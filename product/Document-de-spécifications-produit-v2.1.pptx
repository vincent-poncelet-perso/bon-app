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4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48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1104B57C-0135-4FC2-ACDD-A067BA05C3F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347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48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09" autoAdjust="0"/>
  </p:normalViewPr>
  <p:slideViewPr>
    <p:cSldViewPr snapToGrid="0">
      <p:cViewPr varScale="1">
        <p:scale>
          <a:sx n="103" d="100"/>
          <a:sy n="103" d="100"/>
        </p:scale>
        <p:origin x="114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PONCELET" userId="f15d0cbbbfd837ee" providerId="LiveId" clId="{13404B52-41AF-4BE4-8F73-02D670497932}"/>
    <pc:docChg chg="undo redo custSel addSld delSld modSld sldOrd addSection delSection modSection">
      <pc:chgData name="Vincent PONCELET" userId="f15d0cbbbfd837ee" providerId="LiveId" clId="{13404B52-41AF-4BE4-8F73-02D670497932}" dt="2026-10-19T15:21:40.995" v="2719" actId="20577"/>
      <pc:docMkLst>
        <pc:docMk/>
      </pc:docMkLst>
      <pc:sldChg chg="addSp delSp modSp new mod modClrScheme chgLayout">
        <pc:chgData name="Vincent PONCELET" userId="f15d0cbbbfd837ee" providerId="LiveId" clId="{13404B52-41AF-4BE4-8F73-02D670497932}" dt="2026-10-19T15:21:40.995" v="2719" actId="20577"/>
        <pc:sldMkLst>
          <pc:docMk/>
          <pc:sldMk cId="2752233830" sldId="286"/>
        </pc:sldMkLst>
        <pc:spChg chg="add mod ord">
          <ac:chgData name="Vincent PONCELET" userId="f15d0cbbbfd837ee" providerId="LiveId" clId="{13404B52-41AF-4BE4-8F73-02D670497932}" dt="2026-10-19T15:21:40.995" v="2719" actId="20577"/>
          <ac:spMkLst>
            <pc:docMk/>
            <pc:sldMk cId="2752233830" sldId="286"/>
            <ac:spMk id="5" creationId="{E684B81F-5D94-E13D-8191-39B347D8FC9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839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063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179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66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86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22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87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41632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846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45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5903CAA-D65B-4C8C-A140-2E56B7F921DC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C7F4E6D-3B86-41C9-943F-009A13E2FC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21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FF54B8-15FD-F6AB-FB3C-25BD9C091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Bon App’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7CD2CE-07DA-A5E4-9C77-FEE65C5EF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Document de spécification produit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499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2D0C38D-60B2-8908-1008-9D9E15E8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CB51460-DBED-D400-9CE8-A0221887A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259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7BC3EAB-FC13-B310-7591-A749F80D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8AEA351-F65E-4BD8-3084-FE722A1CC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Bon App’</a:t>
            </a:r>
            <a:r>
              <a:rPr lang="fr-FR" dirty="0"/>
              <a:t> est une application conçue pour préserver, organiser et transmettre le patrimoine culinaire familial. </a:t>
            </a:r>
          </a:p>
          <a:p>
            <a:pPr marL="0" indent="0">
              <a:buNone/>
            </a:pPr>
            <a:r>
              <a:rPr lang="fr-FR" dirty="0"/>
              <a:t>Elle transforme des fragments épars — carnets manuscrits, photos, messages WhatsApp, traditions orales — en un </a:t>
            </a:r>
            <a:r>
              <a:rPr lang="fr-FR" b="1" dirty="0"/>
              <a:t>héritage vivant</a:t>
            </a:r>
            <a:r>
              <a:rPr lang="fr-FR" dirty="0"/>
              <a:t>, structuré et partageable.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AFA6D93-C1C3-C1F3-B01B-D611FBC7B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Faire de chaque recette un lien entre les générations.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395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5441C-5BB8-AB87-AE2F-12A20342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&amp; origine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199B5-7655-2B7B-C2DF-2DE181E88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Dans chaque famille, les recettes circulent comme des trésors discrets 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griffonnées dans un vieux cahier,</a:t>
            </a:r>
          </a:p>
          <a:p>
            <a:r>
              <a:rPr lang="fr-FR" dirty="0"/>
              <a:t>envoyées en photo dans un groupe WhatsApp,</a:t>
            </a:r>
          </a:p>
          <a:p>
            <a:r>
              <a:rPr lang="fr-FR" dirty="0"/>
              <a:t>transmises oralement autour d’une table,</a:t>
            </a:r>
          </a:p>
          <a:p>
            <a:r>
              <a:rPr lang="fr-FR" dirty="0"/>
              <a:t>modifiées au fil des saisons ou des générations.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735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A7225-5852-4DC3-81B5-ECD2B911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BCFBA-B91E-8E54-72FD-89CBDE84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&amp; origine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B27916-0288-10DB-F874-E531C2253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Mais ces fragments se dispersent. </a:t>
            </a:r>
          </a:p>
          <a:p>
            <a:pPr marL="0" indent="0">
              <a:buNone/>
            </a:pPr>
            <a:r>
              <a:rPr lang="fr-FR" dirty="0"/>
              <a:t>Ils se perdent. </a:t>
            </a:r>
          </a:p>
          <a:p>
            <a:pPr marL="0" indent="0">
              <a:buNone/>
            </a:pPr>
            <a:r>
              <a:rPr lang="fr-FR" dirty="0"/>
              <a:t>Ils deviennent difficiles à retrouver, à transmettre, à préserver.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Bon App’ naît de cette intuition simple : </a:t>
            </a:r>
            <a:r>
              <a:rPr lang="fr-FR" b="1" dirty="0"/>
              <a:t>la cuisine est un patrimoine culturel et émotionnel</a:t>
            </a:r>
            <a:r>
              <a:rPr lang="fr-FR" dirty="0"/>
              <a:t>, et elle mérite un espace dédié, moderne, chaleureux et collaboratif.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6184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8713C-475E-BBFF-BBCF-F717BC6A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Enjeux culturels et émotionnels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35C0E4-9626-126D-D46B-11B1FADAE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cuisine familiale n’est pas seulement une liste d’ingrédients.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C’est un </a:t>
            </a:r>
            <a:r>
              <a:rPr lang="fr-FR" b="1" dirty="0"/>
              <a:t>vecteur d’identité</a:t>
            </a:r>
            <a:r>
              <a:rPr lang="fr-FR" dirty="0"/>
              <a:t>, un </a:t>
            </a:r>
            <a:r>
              <a:rPr lang="fr-FR" b="1" dirty="0"/>
              <a:t>support de mémoire</a:t>
            </a:r>
            <a:r>
              <a:rPr lang="fr-FR" dirty="0"/>
              <a:t>, un </a:t>
            </a:r>
            <a:r>
              <a:rPr lang="fr-FR" b="1" dirty="0"/>
              <a:t>rituel de transmission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Bon App’ répond à trois enjeux majeurs :</a:t>
            </a:r>
          </a:p>
          <a:p>
            <a:endParaRPr lang="fr-FR" b="1" dirty="0"/>
          </a:p>
          <a:p>
            <a:r>
              <a:rPr lang="fr-FR" b="1" dirty="0"/>
              <a:t>Préserver</a:t>
            </a:r>
            <a:r>
              <a:rPr lang="fr-FR" dirty="0"/>
              <a:t> : éviter la perte des recettes familiales.</a:t>
            </a:r>
          </a:p>
          <a:p>
            <a:r>
              <a:rPr lang="fr-FR" b="1" dirty="0"/>
              <a:t>Transmettre</a:t>
            </a:r>
            <a:r>
              <a:rPr lang="fr-FR" dirty="0"/>
              <a:t> : faciliter le passage de témoin entre générations.</a:t>
            </a:r>
          </a:p>
          <a:p>
            <a:r>
              <a:rPr lang="fr-FR" b="1" dirty="0"/>
              <a:t>Rassembler</a:t>
            </a:r>
            <a:r>
              <a:rPr lang="fr-FR" dirty="0"/>
              <a:t> : créer un espace où la cuisine devient un lien, pas seulement une action.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17173F-6B13-69B7-B680-47D2245B3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Pourquoi maintenant ?</a:t>
            </a:r>
            <a:endParaRPr lang="fr-FR" dirty="0"/>
          </a:p>
          <a:p>
            <a:r>
              <a:rPr lang="fr-FR" dirty="0"/>
              <a:t>Explosion des échanges culinaires via messageries</a:t>
            </a:r>
          </a:p>
          <a:p>
            <a:r>
              <a:rPr lang="fr-FR" dirty="0"/>
              <a:t>Fragmentation des contenus</a:t>
            </a:r>
          </a:p>
          <a:p>
            <a:r>
              <a:rPr lang="fr-FR" dirty="0"/>
              <a:t>Besoin croissant de préserver les traditions familiales</a:t>
            </a:r>
          </a:p>
          <a:p>
            <a:r>
              <a:rPr lang="fr-FR" dirty="0"/>
              <a:t>Manque d’outils simples, beaux et collaboratifs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440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A1002E9-CBF1-1962-E5A6-06B26961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&amp; Opportunité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82AA56D-D113-B30D-A092-8EB5C04CE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55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AB6867C-BC60-F881-4C28-7A5866FB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utilisateur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DC55B29-02B7-86FF-E888-AD8B65426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utilisateurs rencontrent aujourd’hui plusieurs difficultés :</a:t>
            </a:r>
          </a:p>
          <a:p>
            <a:endParaRPr lang="fr-FR" dirty="0"/>
          </a:p>
          <a:p>
            <a:r>
              <a:rPr lang="fr-FR" dirty="0"/>
              <a:t>Les recettes sont </a:t>
            </a:r>
            <a:r>
              <a:rPr lang="fr-FR" b="1" dirty="0"/>
              <a:t>dispersées</a:t>
            </a:r>
            <a:r>
              <a:rPr lang="fr-FR" dirty="0"/>
              <a:t> (carnets, photos, messages, mémoire orale).</a:t>
            </a:r>
          </a:p>
          <a:p>
            <a:r>
              <a:rPr lang="fr-FR" dirty="0"/>
              <a:t>Elles sont </a:t>
            </a:r>
            <a:r>
              <a:rPr lang="fr-FR" b="1" dirty="0"/>
              <a:t>difficiles à retrouver</a:t>
            </a:r>
            <a:r>
              <a:rPr lang="fr-FR" dirty="0"/>
              <a:t> et encore plus à transmettre.</a:t>
            </a:r>
          </a:p>
          <a:p>
            <a:r>
              <a:rPr lang="fr-FR" dirty="0"/>
              <a:t>Les formats actuels (PDF, photos, notes) sont </a:t>
            </a:r>
            <a:r>
              <a:rPr lang="fr-FR" b="1" dirty="0"/>
              <a:t>peu adaptés</a:t>
            </a:r>
            <a:r>
              <a:rPr lang="fr-FR" dirty="0"/>
              <a:t> à une organisation durable.</a:t>
            </a:r>
          </a:p>
          <a:p>
            <a:r>
              <a:rPr lang="fr-FR" dirty="0"/>
              <a:t>Les familles manquent d’un </a:t>
            </a:r>
            <a:r>
              <a:rPr lang="fr-FR" b="1" dirty="0"/>
              <a:t>espace commun</a:t>
            </a:r>
            <a:r>
              <a:rPr lang="fr-FR" dirty="0"/>
              <a:t> pour centraliser et enrichir leurs recettes.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212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104C22-A61A-A62A-96CB-3631B13F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Conséquences de l’absence de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0A844E-A46A-0BAE-7E1E-E250ADBB4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Sans outil dédié :</a:t>
            </a:r>
          </a:p>
          <a:p>
            <a:endParaRPr lang="fr-FR" dirty="0"/>
          </a:p>
          <a:p>
            <a:r>
              <a:rPr lang="fr-FR" dirty="0"/>
              <a:t>Les recettes se </a:t>
            </a:r>
            <a:r>
              <a:rPr lang="fr-FR" b="1" dirty="0"/>
              <a:t>perdent</a:t>
            </a:r>
            <a:r>
              <a:rPr lang="fr-FR" dirty="0"/>
              <a:t> avec le temps.</a:t>
            </a:r>
          </a:p>
          <a:p>
            <a:r>
              <a:rPr lang="fr-FR" dirty="0"/>
              <a:t>Les variantes familiales ne sont </a:t>
            </a:r>
            <a:r>
              <a:rPr lang="fr-FR" b="1" dirty="0"/>
              <a:t>pas documentées</a:t>
            </a:r>
            <a:r>
              <a:rPr lang="fr-FR" dirty="0"/>
              <a:t>.</a:t>
            </a:r>
          </a:p>
          <a:p>
            <a:r>
              <a:rPr lang="fr-FR" dirty="0"/>
              <a:t>Les échanges culinaires restent </a:t>
            </a:r>
            <a:r>
              <a:rPr lang="fr-FR" b="1" dirty="0"/>
              <a:t>éphémères</a:t>
            </a:r>
            <a:r>
              <a:rPr lang="fr-FR" dirty="0"/>
              <a:t>.</a:t>
            </a:r>
          </a:p>
          <a:p>
            <a:r>
              <a:rPr lang="fr-FR" dirty="0"/>
              <a:t>Le patrimoine culinaire familial devient </a:t>
            </a:r>
            <a:r>
              <a:rPr lang="fr-FR" b="1" dirty="0"/>
              <a:t>fragile</a:t>
            </a:r>
            <a:r>
              <a:rPr lang="fr-FR" dirty="0"/>
              <a:t> et non transmissible.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150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1A26F-494B-FA47-7ABE-8E8EB69F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Opportunité de marché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08E70A65-E5E7-EC91-072A-CB12CFE9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Croissance des applications culinaires</a:t>
            </a:r>
          </a:p>
          <a:p>
            <a:r>
              <a:rPr lang="fr-FR" dirty="0"/>
              <a:t>Explosion des usages WhatsApp/SMS pour partager des recettes</a:t>
            </a:r>
          </a:p>
          <a:p>
            <a:r>
              <a:rPr lang="fr-FR" dirty="0"/>
              <a:t>Intérêt croissant pour les traditions familiales</a:t>
            </a:r>
          </a:p>
          <a:p>
            <a:r>
              <a:rPr lang="fr-FR" dirty="0"/>
              <a:t>Absence d’un outil </a:t>
            </a:r>
            <a:r>
              <a:rPr lang="fr-FR" b="1" dirty="0"/>
              <a:t>simple, émotionnel et collaboratif</a:t>
            </a:r>
            <a:r>
              <a:rPr lang="fr-FR" dirty="0"/>
              <a:t> dédié aux familles</a:t>
            </a:r>
          </a:p>
        </p:txBody>
      </p:sp>
    </p:spTree>
    <p:extLst>
      <p:ext uri="{BB962C8B-B14F-4D97-AF65-F5344CB8AC3E}">
        <p14:creationId xmlns:p14="http://schemas.microsoft.com/office/powerpoint/2010/main" val="99203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B0C874-D822-B30D-231D-EDD465FA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Proposition de valeur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C92957-909A-1289-21EA-B281DD051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Bon App’ propose :</a:t>
            </a:r>
          </a:p>
          <a:p>
            <a:endParaRPr lang="fr-FR" dirty="0"/>
          </a:p>
          <a:p>
            <a:r>
              <a:rPr lang="fr-FR" dirty="0"/>
              <a:t>Une </a:t>
            </a:r>
            <a:r>
              <a:rPr lang="fr-FR" b="1" dirty="0"/>
              <a:t>capture intelligente</a:t>
            </a:r>
            <a:r>
              <a:rPr lang="fr-FR" dirty="0"/>
              <a:t> des recettes (OCR, import WhatsApp, nettoyage).</a:t>
            </a:r>
          </a:p>
          <a:p>
            <a:r>
              <a:rPr lang="fr-FR" dirty="0"/>
              <a:t>Une </a:t>
            </a:r>
            <a:r>
              <a:rPr lang="fr-FR" b="1" dirty="0"/>
              <a:t>fiche recette standardisée</a:t>
            </a:r>
            <a:r>
              <a:rPr lang="fr-FR" dirty="0"/>
              <a:t>, claire et flexible.</a:t>
            </a:r>
          </a:p>
          <a:p>
            <a:r>
              <a:rPr lang="fr-FR" dirty="0"/>
              <a:t>Des </a:t>
            </a:r>
            <a:r>
              <a:rPr lang="fr-FR" b="1" dirty="0"/>
              <a:t>espaces familiaux</a:t>
            </a:r>
            <a:r>
              <a:rPr lang="fr-FR" dirty="0"/>
              <a:t> pour collaborer et transmettre.</a:t>
            </a:r>
          </a:p>
          <a:p>
            <a:r>
              <a:rPr lang="fr-FR" dirty="0"/>
              <a:t>Une </a:t>
            </a:r>
            <a:r>
              <a:rPr lang="fr-FR" b="1" dirty="0"/>
              <a:t>dimension émotionnelle</a:t>
            </a:r>
            <a:r>
              <a:rPr lang="fr-FR" dirty="0"/>
              <a:t> unique : anecdotes, photos, chronologie.</a:t>
            </a:r>
          </a:p>
          <a:p>
            <a:r>
              <a:rPr lang="fr-FR" dirty="0"/>
              <a:t>Une </a:t>
            </a:r>
            <a:r>
              <a:rPr lang="fr-FR" b="1" dirty="0"/>
              <a:t>expérience fluide</a:t>
            </a:r>
            <a:r>
              <a:rPr lang="fr-FR" dirty="0"/>
              <a:t>, accessible à tous les âges.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5A8E64-B595-21D6-CDE5-72E3974CD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Promesse</a:t>
            </a:r>
            <a:r>
              <a:rPr lang="fr-FR" dirty="0"/>
              <a:t> </a:t>
            </a:r>
          </a:p>
          <a:p>
            <a:r>
              <a:rPr lang="fr-FR" i="1" dirty="0"/>
              <a:t>Rassembler, préserver et transmettre le patrimoine culinaire familial dans un espace simple, vivant et partagé.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95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6687-FA39-3589-C177-62D3238C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1852451-4431-9DAC-1BD9-C182B21B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du produit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B0F3DDB-EF63-E032-9949-567EB28FF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619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F4B0153-37D7-4A87-8D9A-873AA93F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fonctionnels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3B75AC9-461F-CB8E-1650-D7F6C2BDA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Bon App’ vise à offrir une expérience complète autour de la capture, l’organisation et la transmission des recettes familiales.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objectifs fonctionnels sont :</a:t>
            </a:r>
          </a:p>
          <a:p>
            <a:endParaRPr lang="fr-FR" dirty="0"/>
          </a:p>
          <a:p>
            <a:r>
              <a:rPr lang="fr-FR" dirty="0"/>
              <a:t>Centraliser toutes les recettes dans un espace unique.</a:t>
            </a:r>
          </a:p>
          <a:p>
            <a:r>
              <a:rPr lang="fr-FR" dirty="0"/>
              <a:t>Faciliter la capture (photo, import WhatsApp, OCR).</a:t>
            </a:r>
          </a:p>
          <a:p>
            <a:r>
              <a:rPr lang="fr-FR" dirty="0"/>
              <a:t>Structurer automatiquement les recettes (ingrédients, étapes, temps, ustensiles).</a:t>
            </a:r>
          </a:p>
          <a:p>
            <a:r>
              <a:rPr lang="fr-FR" dirty="0"/>
              <a:t>Permettre un partage fluide et sécurisé.</a:t>
            </a:r>
          </a:p>
          <a:p>
            <a:r>
              <a:rPr lang="fr-FR" dirty="0"/>
              <a:t>Offrir une recherche puissante et intuitive.</a:t>
            </a:r>
          </a:p>
          <a:p>
            <a:r>
              <a:rPr lang="fr-FR" dirty="0"/>
              <a:t>Intégrer une dimension émotionnelle (anecdotes, médias, chronologie).</a:t>
            </a:r>
          </a:p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ED93CC8-C289-C3A0-0F99-D984BCF80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Objectif fonctionnel clé</a:t>
            </a:r>
            <a:r>
              <a:rPr lang="fr-FR" dirty="0"/>
              <a:t> </a:t>
            </a:r>
          </a:p>
          <a:p>
            <a:r>
              <a:rPr lang="fr-FR" i="1" dirty="0"/>
              <a:t>Quand une photo brute devient une fiche recette propre, structurée et partageable en moins de 10 secondes.</a:t>
            </a:r>
          </a:p>
        </p:txBody>
      </p:sp>
    </p:spTree>
    <p:extLst>
      <p:ext uri="{BB962C8B-B14F-4D97-AF65-F5344CB8AC3E}">
        <p14:creationId xmlns:p14="http://schemas.microsoft.com/office/powerpoint/2010/main" val="4141890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AD8A0-B5C0-131D-55D6-B592B521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émotionnels &amp; culturels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13B2E8-1B2B-BBD0-0350-46A9CC04B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Bon App’ ne se limite pas à organiser des recettes : il préserve un héritage.</a:t>
            </a:r>
          </a:p>
          <a:p>
            <a:endParaRPr lang="fr-FR" dirty="0"/>
          </a:p>
          <a:p>
            <a:r>
              <a:rPr lang="fr-FR" dirty="0"/>
              <a:t>Valoriser les traditions familiales.</a:t>
            </a:r>
          </a:p>
          <a:p>
            <a:r>
              <a:rPr lang="fr-FR" dirty="0"/>
              <a:t>Encourager la transmission intergénérationnelle.</a:t>
            </a:r>
          </a:p>
          <a:p>
            <a:r>
              <a:rPr lang="fr-FR" dirty="0"/>
              <a:t>Renforcer les liens familiaux autour de la cuisine.</a:t>
            </a:r>
          </a:p>
          <a:p>
            <a:r>
              <a:rPr lang="fr-FR" dirty="0"/>
              <a:t>Donner une place aux histoires, aux voix, aux souvenirs.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F75CFD-9755-F1D3-7D87-A9D01DFB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Objectif émotionnel</a:t>
            </a:r>
            <a:r>
              <a:rPr lang="fr-FR" dirty="0"/>
              <a:t> </a:t>
            </a:r>
          </a:p>
          <a:p>
            <a:r>
              <a:rPr lang="fr-FR" i="1" dirty="0"/>
              <a:t>Faire de chaque recette un fragment de mémoire vivante.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40225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9B6F7D-2DA0-D5DD-D2ED-D9B38422A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business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EF3D22-96D6-76DC-4D7B-1172CDBA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Construire une base d’utilisateurs engagés.</a:t>
            </a:r>
          </a:p>
          <a:p>
            <a:r>
              <a:rPr lang="fr-FR" dirty="0"/>
              <a:t>Développer un modèle freemium attractif.</a:t>
            </a:r>
          </a:p>
          <a:p>
            <a:r>
              <a:rPr lang="fr-FR" dirty="0"/>
              <a:t>Générer des revenus via l’abonnement et les livres imprimés.</a:t>
            </a:r>
          </a:p>
          <a:p>
            <a:r>
              <a:rPr lang="fr-FR" dirty="0"/>
              <a:t>Créer un produit différenciant dans un marché saturé d’apps culinaires.</a:t>
            </a:r>
          </a:p>
        </p:txBody>
      </p:sp>
    </p:spTree>
    <p:extLst>
      <p:ext uri="{BB962C8B-B14F-4D97-AF65-F5344CB8AC3E}">
        <p14:creationId xmlns:p14="http://schemas.microsoft.com/office/powerpoint/2010/main" val="346180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D9F713-351E-71A6-F2DD-0B30A745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KPIs associés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C3E950-DA6B-97E3-D2C4-814FE12F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Nombre de recettes ajoutées par utilisateur.</a:t>
            </a:r>
          </a:p>
          <a:p>
            <a:r>
              <a:rPr lang="fr-FR" dirty="0"/>
              <a:t>Taux d’engagement dans les espaces familiaux.</a:t>
            </a:r>
          </a:p>
          <a:p>
            <a:r>
              <a:rPr lang="fr-FR" dirty="0"/>
              <a:t>Nombre de partages (publics, privés, groupes).</a:t>
            </a:r>
          </a:p>
          <a:p>
            <a:r>
              <a:rPr lang="fr-FR" dirty="0"/>
              <a:t>Satisfaction utilisateur (NPS, enquêtes).</a:t>
            </a:r>
          </a:p>
          <a:p>
            <a:r>
              <a:rPr lang="fr-FR" dirty="0"/>
              <a:t>Taux de conversion freemium → abonnement.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F15CD73-7125-5BC7-68EE-514E12D8D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KPI phare</a:t>
            </a:r>
            <a:r>
              <a:rPr lang="fr-FR" dirty="0"/>
              <a:t> </a:t>
            </a:r>
          </a:p>
          <a:p>
            <a:r>
              <a:rPr lang="fr-FR" i="1" dirty="0"/>
              <a:t>% de recettes enrichies (anecdotes, photos, variantes) : indicateur de valeur émotionnelle.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6912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C2D1CA0-6E12-86DA-FF3D-CA7D221C5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Personas</a:t>
            </a:r>
            <a:r>
              <a:rPr lang="fr-FR" dirty="0"/>
              <a:t> &amp; Cas d’usage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177DFD11-7828-3AC9-4A16-BDE7ACFFB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661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F35AD-78D1-0EDD-496E-8BA35117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Marie, 72 ans, la gardienne des traditions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115393-ADF2-0BF8-77E4-081B7216F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Utilise un smartphone mais préfère les interfaces simples.</a:t>
            </a:r>
          </a:p>
          <a:p>
            <a:r>
              <a:rPr lang="fr-FR" dirty="0"/>
              <a:t>Possède des carnets manuscrits remplis de recettes.</a:t>
            </a:r>
          </a:p>
          <a:p>
            <a:r>
              <a:rPr lang="fr-FR" dirty="0"/>
              <a:t>Souhaite transmettre son savoir-faire à ses enfants et petits-enfants.</a:t>
            </a:r>
          </a:p>
          <a:p>
            <a:r>
              <a:rPr lang="fr-FR" dirty="0"/>
              <a:t>Aime raconter l’histoire derrière chaque plat.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9485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AB308C-07E2-3986-6D4D-F34F0B5F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Paul, 35 ans, jeune parent pressé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36C212-543C-FF4D-5EDC-DE5647C47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Reçoit souvent des recettes via WhatsApp.</a:t>
            </a:r>
          </a:p>
          <a:p>
            <a:r>
              <a:rPr lang="fr-FR" dirty="0"/>
              <a:t>Cherche des plats rapides et familiaux.</a:t>
            </a:r>
          </a:p>
          <a:p>
            <a:r>
              <a:rPr lang="fr-FR" dirty="0"/>
              <a:t>Veut organiser ses recettes pour planifier les repas.</a:t>
            </a:r>
          </a:p>
          <a:p>
            <a:r>
              <a:rPr lang="fr-FR" dirty="0"/>
              <a:t>Utilise son téléphone en cuisine.</a:t>
            </a:r>
          </a:p>
        </p:txBody>
      </p:sp>
    </p:spTree>
    <p:extLst>
      <p:ext uri="{BB962C8B-B14F-4D97-AF65-F5344CB8AC3E}">
        <p14:creationId xmlns:p14="http://schemas.microsoft.com/office/powerpoint/2010/main" val="4286160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DB38AF-93EE-3B7F-FC13-28B74B76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Sophie, 28 ans, cuisinière amateur passionnée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2E01D4-C598-B130-247C-8D4E9A3BE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Expérimente beaucoup.</a:t>
            </a:r>
          </a:p>
          <a:p>
            <a:r>
              <a:rPr lang="fr-FR" dirty="0"/>
              <a:t>Crée des variantes selon les saisons.</a:t>
            </a:r>
          </a:p>
          <a:p>
            <a:r>
              <a:rPr lang="fr-FR" dirty="0"/>
              <a:t>Partage ses recettes avec un groupe d’amis gourmets.</a:t>
            </a:r>
          </a:p>
          <a:p>
            <a:r>
              <a:rPr lang="fr-FR" dirty="0"/>
              <a:t>A besoin d’une recherche avancée.</a:t>
            </a:r>
          </a:p>
        </p:txBody>
      </p:sp>
    </p:spTree>
    <p:extLst>
      <p:ext uri="{BB962C8B-B14F-4D97-AF65-F5344CB8AC3E}">
        <p14:creationId xmlns:p14="http://schemas.microsoft.com/office/powerpoint/2010/main" val="1366541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519B6-54C0-E6E0-CE8F-CA53BA92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Parcours utilisateur global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BC1C3F-017E-A34E-CA84-5FD02AFED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Capture d’une recette (photo, import WhatsApp).</a:t>
            </a:r>
          </a:p>
          <a:p>
            <a:r>
              <a:rPr lang="fr-FR" dirty="0"/>
              <a:t>Nettoyage automatique + OCR.</a:t>
            </a:r>
          </a:p>
          <a:p>
            <a:r>
              <a:rPr lang="fr-FR" dirty="0"/>
              <a:t>Structuration automatique (ingrédients, étapes).</a:t>
            </a:r>
          </a:p>
          <a:p>
            <a:r>
              <a:rPr lang="fr-FR" dirty="0"/>
              <a:t>Ajout d’anecdotes, photos, vidéos, notes vocales.</a:t>
            </a:r>
          </a:p>
          <a:p>
            <a:r>
              <a:rPr lang="fr-FR" dirty="0"/>
              <a:t>Partage dans un espace familial ou groupe.</a:t>
            </a:r>
          </a:p>
          <a:p>
            <a:r>
              <a:rPr lang="fr-FR" dirty="0"/>
              <a:t>Consultation, commentaires, variantes.</a:t>
            </a:r>
          </a:p>
          <a:p>
            <a:r>
              <a:rPr lang="fr-FR" dirty="0"/>
              <a:t>Recherche et organisation continue.</a:t>
            </a:r>
          </a:p>
        </p:txBody>
      </p:sp>
    </p:spTree>
    <p:extLst>
      <p:ext uri="{BB962C8B-B14F-4D97-AF65-F5344CB8AC3E}">
        <p14:creationId xmlns:p14="http://schemas.microsoft.com/office/powerpoint/2010/main" val="3589338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5E32-EA4B-5647-8DB8-FDEE98B3F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C0E81-EC6F-7700-6852-50C95368D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Marie transmet ses recettes traditionnelles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772173-D664-DF44-A94F-4DE90AD65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Marie photographie une vieille recette manuscrite.</a:t>
            </a:r>
          </a:p>
          <a:p>
            <a:pPr marL="0" indent="0">
              <a:buNone/>
            </a:pPr>
            <a:r>
              <a:rPr lang="fr-FR" dirty="0"/>
              <a:t>L’OCR détecte les ingrédients et étapes.</a:t>
            </a:r>
          </a:p>
          <a:p>
            <a:pPr marL="0" indent="0">
              <a:buNone/>
            </a:pPr>
            <a:r>
              <a:rPr lang="fr-FR" dirty="0"/>
              <a:t>Elle ajoute une anecdote sur sa mère.</a:t>
            </a:r>
          </a:p>
          <a:p>
            <a:pPr marL="0" indent="0">
              <a:buNone/>
            </a:pPr>
            <a:r>
              <a:rPr lang="fr-FR" dirty="0"/>
              <a:t>Elle partage la recette dans son espace familial.</a:t>
            </a:r>
          </a:p>
          <a:p>
            <a:pPr marL="0" indent="0">
              <a:buNone/>
            </a:pPr>
            <a:r>
              <a:rPr lang="fr-FR" dirty="0"/>
              <a:t>Ses petits-enfants proposent une variante sans gluten.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FFCFE7E-1AE5-EF7E-8C9F-F807341D7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Valeur clé</a:t>
            </a:r>
            <a:r>
              <a:rPr lang="fr-FR" dirty="0"/>
              <a:t> </a:t>
            </a:r>
          </a:p>
          <a:p>
            <a:r>
              <a:rPr lang="fr-FR" i="1" dirty="0"/>
              <a:t>La technologie au service de la mémoire familiale.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4821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C852AE8-9B13-7499-D989-55B5D609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Paul cherche des recettes rapides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75BFFE-A9F2-1647-0343-599CFC7C4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Paul importe une photo reçue sur WhatsApp. </a:t>
            </a:r>
          </a:p>
          <a:p>
            <a:pPr marL="0" indent="0">
              <a:buNone/>
            </a:pPr>
            <a:r>
              <a:rPr lang="fr-FR" dirty="0"/>
              <a:t>L’application nettoie l’image et extrait les informations. </a:t>
            </a:r>
          </a:p>
          <a:p>
            <a:pPr marL="0" indent="0">
              <a:buNone/>
            </a:pPr>
            <a:r>
              <a:rPr lang="fr-FR" dirty="0"/>
              <a:t>Il tague la recette “Rapide” et “Famille”. </a:t>
            </a:r>
          </a:p>
          <a:p>
            <a:pPr marL="0" indent="0">
              <a:buNone/>
            </a:pPr>
            <a:r>
              <a:rPr lang="fr-FR" dirty="0"/>
              <a:t>Avec sa conjointe, ils ajustent les quantités et planifient leurs repas.</a:t>
            </a:r>
          </a:p>
        </p:txBody>
      </p:sp>
    </p:spTree>
    <p:extLst>
      <p:ext uri="{BB962C8B-B14F-4D97-AF65-F5344CB8AC3E}">
        <p14:creationId xmlns:p14="http://schemas.microsoft.com/office/powerpoint/2010/main" val="481138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EEBB0-5CCA-E132-7325-17737F75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26E3F25-293D-2933-D9EE-246F9E52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Sophie organise ses recettes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5C275CC-A6C7-E0EE-5BAF-DB1457114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Sophie ajoute ses recettes manuellement. </a:t>
            </a:r>
          </a:p>
          <a:p>
            <a:pPr marL="0" indent="0">
              <a:buNone/>
            </a:pPr>
            <a:r>
              <a:rPr lang="fr-FR" dirty="0"/>
              <a:t>Elle crée des variantes saisonnières. </a:t>
            </a:r>
          </a:p>
          <a:p>
            <a:pPr marL="0" indent="0">
              <a:buNone/>
            </a:pPr>
            <a:r>
              <a:rPr lang="fr-FR" dirty="0"/>
              <a:t>Elle partage certaines recettes avec ses amis. </a:t>
            </a:r>
          </a:p>
          <a:p>
            <a:pPr marL="0" indent="0">
              <a:buNone/>
            </a:pPr>
            <a:r>
              <a:rPr lang="fr-FR" dirty="0"/>
              <a:t>Elle utilise la recherche avancée pour trouver une recette selon les ingrédients disponibles.</a:t>
            </a:r>
          </a:p>
        </p:txBody>
      </p:sp>
    </p:spTree>
    <p:extLst>
      <p:ext uri="{BB962C8B-B14F-4D97-AF65-F5344CB8AC3E}">
        <p14:creationId xmlns:p14="http://schemas.microsoft.com/office/powerpoint/2010/main" val="3772666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8833E2-DED6-3FD0-8964-59B23C23B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Fonctionnalités principales</a:t>
            </a:r>
            <a:br>
              <a:rPr lang="fr-FR" dirty="0"/>
            </a:br>
            <a:r>
              <a:rPr lang="fr-FR" dirty="0"/>
              <a:t>(Phase 1)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B702C6-B178-F14D-C44D-59034D976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343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B18BFF9-CBDF-78DC-FE5A-165DA6CA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Capture intelligente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932F7FC-3842-19B0-7B36-4FAA6BDA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OCR avancé</a:t>
            </a:r>
          </a:p>
          <a:p>
            <a:r>
              <a:rPr lang="fr-FR" dirty="0"/>
              <a:t>Reconnaissance automatique des ingrédients, quantités, unités, étapes.</a:t>
            </a:r>
          </a:p>
          <a:p>
            <a:r>
              <a:rPr lang="fr-FR" dirty="0"/>
              <a:t>Correction automatique des erreurs fréquentes.</a:t>
            </a:r>
          </a:p>
          <a:p>
            <a:r>
              <a:rPr lang="fr-FR" dirty="0"/>
              <a:t>Surlignage des éléments détectés pour validation.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1521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D85B7-755B-D818-0595-83874252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4BAA289-38DB-A448-5367-BD4806CA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Capture intelligente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6F96D00-30AE-96F7-E2E2-1C70296F0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Import WhatsApp / SMS</a:t>
            </a:r>
          </a:p>
          <a:p>
            <a:r>
              <a:rPr lang="fr-FR" dirty="0"/>
              <a:t>Extraction automatique du texte depuis les images.</a:t>
            </a:r>
          </a:p>
          <a:p>
            <a:r>
              <a:rPr lang="fr-FR" dirty="0"/>
              <a:t>Nettoyage visuel (contraste, recadrage, suppression du bruit).</a:t>
            </a:r>
          </a:p>
          <a:p>
            <a:r>
              <a:rPr lang="fr-FR" dirty="0"/>
              <a:t>Détection des sections (ingrédients, étapes).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3648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FA161-53AB-616A-F278-68383C24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EDC1D1D-604A-1E60-4C15-40E60C2F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Capture intelligente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909866C-645A-3EFD-B8E8-EB53AB8A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Nettoyage d’image</a:t>
            </a:r>
          </a:p>
          <a:p>
            <a:r>
              <a:rPr lang="fr-FR" dirty="0"/>
              <a:t>Correction de perspective.</a:t>
            </a:r>
          </a:p>
          <a:p>
            <a:r>
              <a:rPr lang="fr-FR" dirty="0"/>
              <a:t>Amélioration de la lisibilité.</a:t>
            </a:r>
          </a:p>
          <a:p>
            <a:r>
              <a:rPr lang="fr-FR" dirty="0"/>
              <a:t>Suppression des ombres.</a:t>
            </a:r>
          </a:p>
          <a:p>
            <a:pPr marL="0" indent="0">
              <a:buNone/>
            </a:pP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6671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08CB-5D63-0B98-11B4-3735CAA33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EAD3B6C-052F-D84A-72AA-850D4E03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Fiches de recettes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1FED3BC-06BB-7204-B0E9-7C963A70B6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Format standardisé</a:t>
            </a:r>
          </a:p>
          <a:p>
            <a:r>
              <a:rPr lang="fr-FR" dirty="0"/>
              <a:t>Ingrédients</a:t>
            </a:r>
          </a:p>
          <a:p>
            <a:r>
              <a:rPr lang="fr-FR" dirty="0"/>
              <a:t>Étapes</a:t>
            </a:r>
          </a:p>
          <a:p>
            <a:r>
              <a:rPr lang="fr-FR" dirty="0"/>
              <a:t>Ustensiles</a:t>
            </a:r>
          </a:p>
          <a:p>
            <a:r>
              <a:rPr lang="fr-FR" dirty="0"/>
              <a:t>Temps (préparation, cuisson, repos)</a:t>
            </a:r>
          </a:p>
          <a:p>
            <a:r>
              <a:rPr lang="fr-FR" dirty="0"/>
              <a:t>Portions</a:t>
            </a:r>
          </a:p>
          <a:p>
            <a:r>
              <a:rPr lang="fr-FR" dirty="0"/>
              <a:t>Difficulté</a:t>
            </a:r>
          </a:p>
          <a:p>
            <a:r>
              <a:rPr lang="fr-FR" dirty="0"/>
              <a:t>Tags</a:t>
            </a:r>
          </a:p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CD9342-42AB-5797-3CF0-37F55B3E64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Fonctionnalités avancées</a:t>
            </a:r>
          </a:p>
          <a:p>
            <a:r>
              <a:rPr lang="fr-FR" dirty="0"/>
              <a:t>Conversions automatiques (grammes ⇔ tasses, portions, températures).</a:t>
            </a:r>
          </a:p>
          <a:p>
            <a:r>
              <a:rPr lang="fr-FR" dirty="0"/>
              <a:t>Variantes par membre de la famille.</a:t>
            </a:r>
          </a:p>
          <a:p>
            <a:r>
              <a:rPr lang="fr-FR" dirty="0"/>
              <a:t>Ajout de médias (photos, vidéos, audio).</a:t>
            </a:r>
          </a:p>
          <a:p>
            <a:r>
              <a:rPr lang="fr-FR" dirty="0"/>
              <a:t>Anecdotes et notes personnelles.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7695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AA2F2-7F8F-8D51-6569-4E9893AE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Espaces familiaux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61C2EB-3DA2-1E71-FA1E-37F945C473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Livre de recettes familial</a:t>
            </a:r>
          </a:p>
          <a:p>
            <a:r>
              <a:rPr lang="fr-FR" dirty="0"/>
              <a:t>Espace partagé entre membres d’une même famille.</a:t>
            </a:r>
          </a:p>
          <a:p>
            <a:r>
              <a:rPr lang="fr-FR" dirty="0"/>
              <a:t>Organisation par catégories, saisons, auteurs.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0F4E87-FBF8-E31E-3BA6-02BCF3AF2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Permissions simples</a:t>
            </a:r>
          </a:p>
          <a:p>
            <a:r>
              <a:rPr lang="fr-FR" dirty="0"/>
              <a:t>Admin</a:t>
            </a:r>
          </a:p>
          <a:p>
            <a:r>
              <a:rPr lang="fr-FR" dirty="0"/>
              <a:t>Contributeur</a:t>
            </a:r>
          </a:p>
          <a:p>
            <a:r>
              <a:rPr lang="fr-FR" dirty="0"/>
              <a:t>Lecteur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Collaboration</a:t>
            </a:r>
          </a:p>
          <a:p>
            <a:r>
              <a:rPr lang="fr-FR" dirty="0"/>
              <a:t>Commentaires</a:t>
            </a:r>
          </a:p>
          <a:p>
            <a:r>
              <a:rPr lang="fr-FR" dirty="0"/>
              <a:t>Notifications en temps réel</a:t>
            </a:r>
          </a:p>
          <a:p>
            <a:r>
              <a:rPr lang="fr-FR" dirty="0"/>
              <a:t>Historique des modifications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7919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5E5CC-64F3-2C22-65F1-74FA9410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Partage &amp; confidentialité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684B81F-5D94-E13D-8191-39B347D8F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Modes de partage</a:t>
            </a:r>
          </a:p>
          <a:p>
            <a:r>
              <a:rPr lang="fr-FR" dirty="0"/>
              <a:t>Recette privée (par défaut).</a:t>
            </a:r>
          </a:p>
          <a:p>
            <a:r>
              <a:rPr lang="fr-FR" dirty="0"/>
              <a:t>Recette publique (optionnelle).</a:t>
            </a:r>
          </a:p>
          <a:p>
            <a:r>
              <a:rPr lang="fr-FR" dirty="0"/>
              <a:t>Partage direct entre utilisateurs Bon App’.</a:t>
            </a:r>
          </a:p>
          <a:p>
            <a:r>
              <a:rPr lang="fr-FR" dirty="0"/>
              <a:t>Lien privé avec expiration.</a:t>
            </a:r>
          </a:p>
          <a:p>
            <a:r>
              <a:rPr lang="fr-FR" dirty="0"/>
              <a:t>Groupes privés (</a:t>
            </a:r>
            <a:r>
              <a:rPr lang="fr-FR"/>
              <a:t>famille, amis</a:t>
            </a:r>
            <a:r>
              <a:rPr lang="fr-FR" dirty="0"/>
              <a:t>, collègues, clubs).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B2CE183-E020-CAC5-CD43-01F0F578E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Philosophie de confidentialité</a:t>
            </a:r>
            <a:r>
              <a:rPr lang="fr-FR" dirty="0"/>
              <a:t> </a:t>
            </a:r>
          </a:p>
          <a:p>
            <a:r>
              <a:rPr lang="fr-FR" i="1" dirty="0"/>
              <a:t>La recette appartient à l’utilisateur. Toujours.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2233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004419B-F07F-3733-102F-434A63EE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&amp; recherche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8445838-3416-7833-B7B7-E67D8EBBEC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Tags intelligents</a:t>
            </a:r>
          </a:p>
          <a:p>
            <a:pPr marL="0" indent="0">
              <a:buNone/>
            </a:pPr>
            <a:r>
              <a:rPr lang="fr-FR" dirty="0"/>
              <a:t>Exemples :</a:t>
            </a:r>
          </a:p>
          <a:p>
            <a:r>
              <a:rPr lang="fr-FR" dirty="0"/>
              <a:t>“Mamie”</a:t>
            </a:r>
          </a:p>
          <a:p>
            <a:r>
              <a:rPr lang="fr-FR" dirty="0"/>
              <a:t>“Dimanche”</a:t>
            </a:r>
          </a:p>
          <a:p>
            <a:r>
              <a:rPr lang="fr-FR" dirty="0"/>
              <a:t>“Rapide”</a:t>
            </a:r>
          </a:p>
          <a:p>
            <a:r>
              <a:rPr lang="fr-FR" dirty="0"/>
              <a:t>“Famille”</a:t>
            </a:r>
          </a:p>
          <a:p>
            <a:r>
              <a:rPr lang="fr-FR" dirty="0"/>
              <a:t>“Hiver”</a:t>
            </a:r>
          </a:p>
          <a:p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B9347CA-39E4-C36A-4023-C00BA362D2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Recherche avancée</a:t>
            </a:r>
          </a:p>
          <a:p>
            <a:r>
              <a:rPr lang="fr-FR" dirty="0"/>
              <a:t>Par ingrédient</a:t>
            </a:r>
          </a:p>
          <a:p>
            <a:r>
              <a:rPr lang="fr-FR" dirty="0"/>
              <a:t>Par saison</a:t>
            </a:r>
          </a:p>
          <a:p>
            <a:r>
              <a:rPr lang="fr-FR" dirty="0"/>
              <a:t>Par difficulté</a:t>
            </a:r>
          </a:p>
          <a:p>
            <a:r>
              <a:rPr lang="fr-FR" dirty="0"/>
              <a:t>Par temps</a:t>
            </a:r>
          </a:p>
          <a:p>
            <a:r>
              <a:rPr lang="fr-FR" dirty="0"/>
              <a:t>Par auteur</a:t>
            </a:r>
          </a:p>
          <a:p>
            <a:r>
              <a:rPr lang="fr-FR" dirty="0"/>
              <a:t>Par variante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Suggestions intelligentes</a:t>
            </a:r>
          </a:p>
          <a:p>
            <a:r>
              <a:rPr lang="fr-FR" dirty="0"/>
              <a:t>Recettes similaires</a:t>
            </a:r>
          </a:p>
          <a:p>
            <a:r>
              <a:rPr lang="fr-FR" dirty="0"/>
              <a:t>Recettes populaires dans l’espace familial</a:t>
            </a:r>
          </a:p>
          <a:p>
            <a:r>
              <a:rPr lang="fr-FR" dirty="0"/>
              <a:t>Recettes adaptées aux ingrédients disponibles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5112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A590F-9FA0-30DA-17A2-780400B6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Histoire &amp; émotion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2A36B-BDEF-B071-4756-2F9E7862C6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Anecdotes</a:t>
            </a:r>
          </a:p>
          <a:p>
            <a:r>
              <a:rPr lang="fr-FR" dirty="0"/>
              <a:t>Texte libre</a:t>
            </a:r>
          </a:p>
          <a:p>
            <a:r>
              <a:rPr lang="fr-FR" dirty="0"/>
              <a:t>Notes vocales</a:t>
            </a:r>
          </a:p>
          <a:p>
            <a:r>
              <a:rPr lang="fr-FR" dirty="0"/>
              <a:t>Vidéos courtes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BBBEC4-9789-1FC6-4AE2-1ED3AC9C08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Chronologie familiale</a:t>
            </a:r>
          </a:p>
          <a:p>
            <a:r>
              <a:rPr lang="fr-FR" dirty="0"/>
              <a:t>Ligne du temps des recettes ajoutées</a:t>
            </a:r>
          </a:p>
          <a:p>
            <a:r>
              <a:rPr lang="fr-FR" dirty="0"/>
              <a:t>Événements culinaires familiaux</a:t>
            </a:r>
          </a:p>
          <a:p>
            <a:r>
              <a:rPr lang="fr-FR" dirty="0"/>
              <a:t>Moments marquants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7506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241EC31-F206-6249-C76E-1AD9DB6E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Fonctionnalités différenciantes</a:t>
            </a:r>
            <a:br>
              <a:rPr lang="fr-FR" dirty="0"/>
            </a:br>
            <a:r>
              <a:rPr lang="fr-FR" dirty="0"/>
              <a:t>(Phase 2)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C092EF0-926E-135B-D9D6-16B22AF42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984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1A94C80-9C0E-DC75-6F5E-33B108AEE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Assistant de cuisine interactif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FFDB04B-7D2D-7599-8383-D1C8DA736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L’assistant de cuisine transforme la fiche recette en une </a:t>
            </a:r>
            <a:r>
              <a:rPr lang="fr-FR" b="1" dirty="0"/>
              <a:t>expérience guidée</a:t>
            </a:r>
            <a:r>
              <a:rPr lang="fr-FR" dirty="0"/>
              <a:t>, fluide et immersive.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Fonctionnalités clés</a:t>
            </a:r>
          </a:p>
          <a:p>
            <a:r>
              <a:rPr lang="fr-FR" dirty="0"/>
              <a:t>Mode pas-à-pas avec affichage d’une seule étape à la fois.</a:t>
            </a:r>
          </a:p>
          <a:p>
            <a:r>
              <a:rPr lang="fr-FR" dirty="0"/>
              <a:t>Minuteries intégrées (cuisson, repos, etc.).</a:t>
            </a:r>
          </a:p>
          <a:p>
            <a:r>
              <a:rPr lang="fr-FR" dirty="0"/>
              <a:t>Alertes visuelles et sonores.</a:t>
            </a:r>
          </a:p>
          <a:p>
            <a:r>
              <a:rPr lang="fr-FR" dirty="0"/>
              <a:t>Mode mains libres (détection vocale simple : “suivant”, “retour”).</a:t>
            </a:r>
          </a:p>
          <a:p>
            <a:r>
              <a:rPr lang="fr-FR" dirty="0"/>
              <a:t>Mise en avant des ustensiles nécessaires avant de commencer.</a:t>
            </a:r>
          </a:p>
          <a:p>
            <a:r>
              <a:rPr lang="fr-FR" dirty="0"/>
              <a:t>Ajustement automatique des quantités selon les portions.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89381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EECFA-A56D-A91F-0CD8-71BE82E2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3287BE5-C3E4-1AE8-724D-2307888F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Assistant de cuisine interactif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B4586C7-3F44-AAE4-D774-583F78371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Accompagner l’utilisateur en cuisine sans distraction, comme un véritable commis numérique.</a:t>
            </a:r>
          </a:p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5F1B9F-73A4-2F87-A43F-F49491BCF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Différenciation</a:t>
            </a:r>
            <a:r>
              <a:rPr lang="fr-FR" dirty="0"/>
              <a:t> </a:t>
            </a:r>
          </a:p>
          <a:p>
            <a:r>
              <a:rPr lang="fr-FR" i="1" dirty="0"/>
              <a:t>L’assistant de cuisine n’est pas un simple lecteur de recette : c’est un guide actif, réactif et familial.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0587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25ED928-CE4E-32B1-2A5A-F7811207E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Livre de recettes imprimé automatique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003962C-3E23-6615-D5D9-3B9073410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Bon App’ permet de transformer un espace familial en un </a:t>
            </a:r>
            <a:r>
              <a:rPr lang="fr-FR" b="1" dirty="0"/>
              <a:t>livre physique</a:t>
            </a:r>
            <a:r>
              <a:rPr lang="fr-FR" dirty="0"/>
              <a:t>, élégant et personnalisé.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Fonctionnalités</a:t>
            </a:r>
          </a:p>
          <a:p>
            <a:r>
              <a:rPr lang="fr-FR" dirty="0"/>
              <a:t>Mise en page automatique (couverture, sommaire, sections).</a:t>
            </a:r>
          </a:p>
          <a:p>
            <a:r>
              <a:rPr lang="fr-FR" dirty="0"/>
              <a:t>Choix de thèmes graphiques (tradition, moderne, minimaliste).</a:t>
            </a:r>
          </a:p>
          <a:p>
            <a:r>
              <a:rPr lang="fr-FR" dirty="0"/>
              <a:t>Export PDF haute qualité.</a:t>
            </a:r>
          </a:p>
          <a:p>
            <a:r>
              <a:rPr lang="fr-FR" dirty="0"/>
              <a:t>Intégration avec services d’impression tiers.</a:t>
            </a:r>
          </a:p>
          <a:p>
            <a:r>
              <a:rPr lang="fr-FR" dirty="0"/>
              <a:t>Option cadeau (envoi direct à un proche).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Offrir un objet tangible, patrimonial, à transmettre ou offrir.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0017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7CA54-527C-8D28-06F9-400569C2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Fil d’actualité familial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E23A77-4F26-1D24-5E8D-4D5A41403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espace dynamique pour suivre la vie culinaire de la famille.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Fonctionnalités</a:t>
            </a:r>
          </a:p>
          <a:p>
            <a:r>
              <a:rPr lang="fr-FR" dirty="0"/>
              <a:t>Activités récentes (nouvelles recettes, variantes, commentaires).</a:t>
            </a:r>
          </a:p>
          <a:p>
            <a:r>
              <a:rPr lang="fr-FR" dirty="0"/>
              <a:t>Notifications en temps réel.</a:t>
            </a:r>
          </a:p>
          <a:p>
            <a:r>
              <a:rPr lang="fr-FR" dirty="0"/>
              <a:t>Mise en avant des recettes populaires.</a:t>
            </a:r>
          </a:p>
          <a:p>
            <a:r>
              <a:rPr lang="fr-FR" dirty="0"/>
              <a:t>Événements culinaires (repas de famille, fêtes, traditions).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Créer un sentiment de communauté et de continuité.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7443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5C5A2B7-1749-2EE0-E18A-7378E4430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Fonctionnalités futures</a:t>
            </a:r>
            <a:br>
              <a:rPr lang="fr-FR"/>
            </a:br>
            <a:r>
              <a:rPr lang="fr-FR"/>
              <a:t>(</a:t>
            </a:r>
            <a:r>
              <a:rPr lang="fr-FR" dirty="0"/>
              <a:t>Phase 3)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67D5A2A5-A38E-343C-AE95-1240691F8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042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40D5FDF-AB57-976C-A1B0-2F0F4832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Intégrations avec appareils connectés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492DD50-962E-28FE-DF21-3A9FA88A4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Possibilités</a:t>
            </a:r>
          </a:p>
          <a:p>
            <a:r>
              <a:rPr lang="fr-FR" dirty="0"/>
              <a:t>Synchronisation avec balances connectées.</a:t>
            </a:r>
          </a:p>
          <a:p>
            <a:r>
              <a:rPr lang="fr-FR" dirty="0"/>
              <a:t>Contrôle de fours intelligents (température, préchauffage).</a:t>
            </a:r>
          </a:p>
          <a:p>
            <a:r>
              <a:rPr lang="fr-FR" dirty="0"/>
              <a:t>Détection automatique des ingrédients via caméras de cuisine.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Créer une cuisine augmentée, fluide et intelligente.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9280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B9F31-B0B6-0266-CD4F-5E8139D1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&amp; analyse nutritionnelle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2A9A7-813D-2DC2-4E41-F48DE2D46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Fonctionnalités envisagées</a:t>
            </a:r>
          </a:p>
          <a:p>
            <a:r>
              <a:rPr lang="fr-FR" dirty="0"/>
              <a:t>Suggestions de recettes basées sur les ingrédients disponibles.</a:t>
            </a:r>
          </a:p>
          <a:p>
            <a:r>
              <a:rPr lang="fr-FR" dirty="0"/>
              <a:t>Analyse nutritionnelle automatique.</a:t>
            </a:r>
          </a:p>
          <a:p>
            <a:r>
              <a:rPr lang="fr-FR" dirty="0"/>
              <a:t>Recommandations personnalisées (santé, allergies, préférences).</a:t>
            </a:r>
          </a:p>
          <a:p>
            <a:r>
              <a:rPr lang="fr-FR" dirty="0"/>
              <a:t>Génération de variantes adaptées (sans gluten, végétarien, allégé).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1764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FE16B0-DC78-F96A-78DD-43E82FA6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Partenariats culturels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D53DB-1723-B0BA-484D-A31D14D0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Exemples</a:t>
            </a:r>
          </a:p>
          <a:p>
            <a:r>
              <a:rPr lang="fr-FR" dirty="0"/>
              <a:t>Écoles de cuisine.</a:t>
            </a:r>
          </a:p>
          <a:p>
            <a:r>
              <a:rPr lang="fr-FR" dirty="0"/>
              <a:t>Musées culinaires.</a:t>
            </a:r>
          </a:p>
          <a:p>
            <a:r>
              <a:rPr lang="fr-FR" dirty="0"/>
              <a:t>Associations de patrimoine gastronomique.</a:t>
            </a:r>
          </a:p>
          <a:p>
            <a:r>
              <a:rPr lang="fr-FR" dirty="0"/>
              <a:t>Chefs ambassadeurs.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Ancrer Bon App’ dans la culture culinaire et la transmission.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0517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13CE0E-1511-6E82-C22D-A597B4CAF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Internationalisation avancée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D14873-4FF2-AEB6-3768-0E552009C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Fonctionnalités</a:t>
            </a:r>
          </a:p>
          <a:p>
            <a:r>
              <a:rPr lang="fr-FR" dirty="0"/>
              <a:t>Support multilingue complet.</a:t>
            </a:r>
          </a:p>
          <a:p>
            <a:r>
              <a:rPr lang="fr-FR" dirty="0"/>
              <a:t>Adaptation des unités, formats et ingrédients selon les régions.</a:t>
            </a:r>
          </a:p>
          <a:p>
            <a:r>
              <a:rPr lang="fr-FR" dirty="0"/>
              <a:t>Traduction automatique des recettes.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40F3CE-AEBF-F632-1E6C-A276DED71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Ambition globale</a:t>
            </a:r>
            <a:r>
              <a:rPr lang="fr-FR" dirty="0"/>
              <a:t> </a:t>
            </a:r>
          </a:p>
          <a:p>
            <a:r>
              <a:rPr lang="fr-FR" i="1" dirty="0"/>
              <a:t>La cuisine est universelle. Bon App’ doit l’être aussi.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8092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3377B77-FC39-FF65-3355-50A39029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UX / UI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4F12A1D-318F-DCCF-ADCE-458BD74DA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792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15A2469-9416-B4C2-10F8-FE1C332A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UX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4BF90B-4A15-AE1D-7FC5-72AE5782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Simplicité</a:t>
            </a:r>
          </a:p>
          <a:p>
            <a:r>
              <a:rPr lang="fr-FR" dirty="0"/>
              <a:t>Interface épurée, accessible à tous les âges.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Clarté</a:t>
            </a:r>
          </a:p>
          <a:p>
            <a:r>
              <a:rPr lang="fr-FR" dirty="0"/>
              <a:t>Hiérarchie visuelle forte, sections bien délimitées.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Feedback immédiat</a:t>
            </a:r>
          </a:p>
          <a:p>
            <a:r>
              <a:rPr lang="fr-FR" dirty="0"/>
              <a:t>Chaque action déclenche un retour visuel ou sonore.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Accessibilité</a:t>
            </a:r>
          </a:p>
          <a:p>
            <a:r>
              <a:rPr lang="fr-FR" dirty="0"/>
              <a:t>Contraste élevé, taille de police ajustable, compatibilité lecteurs d’écran.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Cohérence</a:t>
            </a:r>
          </a:p>
          <a:p>
            <a:r>
              <a:rPr lang="fr-FR" dirty="0"/>
              <a:t>Palette chaleureuse, typographie lisible, icônes familières.</a:t>
            </a:r>
          </a:p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6570CBB-023B-6D08-FA45-37410FE87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ADN UX</a:t>
            </a:r>
            <a:r>
              <a:rPr lang="fr-FR" dirty="0"/>
              <a:t> </a:t>
            </a:r>
          </a:p>
          <a:p>
            <a:r>
              <a:rPr lang="fr-FR" i="1" dirty="0"/>
              <a:t>Une application qui respire la chaleur familiale, sans sacrifier la rigueur fonctionnelle.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902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5310E85-C994-4065-E0DB-B6F6B33E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de navigation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20F5F2-32A4-C190-DED4-694678BDA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Éléments principaux</a:t>
            </a:r>
          </a:p>
          <a:p>
            <a:r>
              <a:rPr lang="fr-FR" dirty="0"/>
              <a:t>Accueil : espaces familiaux + groupes + notifications.</a:t>
            </a:r>
          </a:p>
          <a:p>
            <a:r>
              <a:rPr lang="fr-FR" dirty="0"/>
              <a:t>Capture : photo, import WhatsApp, correction OCR.</a:t>
            </a:r>
          </a:p>
          <a:p>
            <a:r>
              <a:rPr lang="fr-FR" dirty="0"/>
              <a:t>Recettes : liste, filtres, recherche.</a:t>
            </a:r>
          </a:p>
          <a:p>
            <a:r>
              <a:rPr lang="fr-FR" dirty="0"/>
              <a:t>Assistant de cuisine.</a:t>
            </a:r>
          </a:p>
          <a:p>
            <a:r>
              <a:rPr lang="fr-FR" dirty="0"/>
              <a:t>Profil &amp; paramètres.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Minimiser les clics, maximiser la fluidité.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02011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F7577-CA1B-F228-82F6-C7CBA6CA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Interactions clés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AFA37-B2D7-0EBD-2596-552D1B2A20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Capture de recette</a:t>
            </a:r>
          </a:p>
          <a:p>
            <a:r>
              <a:rPr lang="fr-FR" dirty="0"/>
              <a:t>Photo ou import WhatsApp.</a:t>
            </a:r>
          </a:p>
          <a:p>
            <a:r>
              <a:rPr lang="fr-FR" dirty="0"/>
              <a:t>Aperçu avec surlignage OCR.</a:t>
            </a:r>
          </a:p>
          <a:p>
            <a:r>
              <a:rPr lang="fr-FR" dirty="0"/>
              <a:t>Bouton “Corriger” pour ajuster les champs.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Fiche recette</a:t>
            </a:r>
          </a:p>
          <a:p>
            <a:r>
              <a:rPr lang="fr-FR" dirty="0"/>
              <a:t>Onglets : ingrédients, étapes, variantes, anecdotes, médias.</a:t>
            </a:r>
          </a:p>
          <a:p>
            <a:r>
              <a:rPr lang="fr-FR" dirty="0"/>
              <a:t>Boutons d’ajout/suppression.</a:t>
            </a:r>
          </a:p>
          <a:p>
            <a:r>
              <a:rPr lang="fr-FR" dirty="0"/>
              <a:t>Navigation fluide entre sections.</a:t>
            </a:r>
          </a:p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7397A0A-236C-1954-50DB-8790B9F56E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b="1" dirty="0"/>
              <a:t>Espaces familiaux</a:t>
            </a:r>
          </a:p>
          <a:p>
            <a:r>
              <a:rPr lang="fr-FR" dirty="0"/>
              <a:t>Gestion intuitive des membres.</a:t>
            </a:r>
          </a:p>
          <a:p>
            <a:r>
              <a:rPr lang="fr-FR" dirty="0"/>
              <a:t>Rôles visibles.</a:t>
            </a:r>
          </a:p>
          <a:p>
            <a:r>
              <a:rPr lang="fr-FR" dirty="0"/>
              <a:t>Notifications en temps réel.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Partage</a:t>
            </a:r>
          </a:p>
          <a:p>
            <a:r>
              <a:rPr lang="fr-FR" dirty="0"/>
              <a:t>Options claires : public, privé, lien temporaire.</a:t>
            </a:r>
          </a:p>
          <a:p>
            <a:r>
              <a:rPr lang="fr-FR" dirty="0"/>
              <a:t>Sélection simple des destinataires.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Recherche avancée</a:t>
            </a:r>
          </a:p>
          <a:p>
            <a:r>
              <a:rPr lang="fr-FR" dirty="0"/>
              <a:t>Filtres dynamiques.</a:t>
            </a:r>
          </a:p>
          <a:p>
            <a:r>
              <a:rPr lang="fr-FR" dirty="0"/>
              <a:t>Suggestions en temps réel.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70007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E9F318-286E-EF31-D2AC-553A266B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Wireframes &amp; maquettes (description)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1FF8BA-2618-9B3F-82BA-B53B13AE12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/>
              <a:t>Écran d’accueil</a:t>
            </a:r>
          </a:p>
          <a:p>
            <a:r>
              <a:rPr lang="fr-FR" dirty="0"/>
              <a:t>Liste des espaces familiaux.</a:t>
            </a:r>
          </a:p>
          <a:p>
            <a:r>
              <a:rPr lang="fr-FR" dirty="0"/>
              <a:t>Bouton de capture en bas.</a:t>
            </a:r>
          </a:p>
          <a:p>
            <a:r>
              <a:rPr lang="fr-FR" dirty="0"/>
              <a:t>Notifications récentes.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Écran de capture</a:t>
            </a:r>
          </a:p>
          <a:p>
            <a:r>
              <a:rPr lang="fr-FR" dirty="0"/>
              <a:t>Bouton photo.</a:t>
            </a:r>
          </a:p>
          <a:p>
            <a:r>
              <a:rPr lang="fr-FR" dirty="0"/>
              <a:t>Import WhatsApp.</a:t>
            </a:r>
          </a:p>
          <a:p>
            <a:r>
              <a:rPr lang="fr-FR" dirty="0"/>
              <a:t>Zone de correction OCR.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Fiche recette</a:t>
            </a:r>
          </a:p>
          <a:p>
            <a:r>
              <a:rPr lang="fr-FR" dirty="0"/>
              <a:t>Sections distinctes.</a:t>
            </a:r>
          </a:p>
          <a:p>
            <a:r>
              <a:rPr lang="fr-FR" dirty="0"/>
              <a:t>Navigation par onglets.</a:t>
            </a:r>
          </a:p>
          <a:p>
            <a:r>
              <a:rPr lang="fr-FR" dirty="0"/>
              <a:t>Boutons d’édition.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8A5855-65E7-A171-D5B5-B934B964A2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/>
              <a:t>Espace familial</a:t>
            </a:r>
          </a:p>
          <a:p>
            <a:r>
              <a:rPr lang="fr-FR" dirty="0"/>
              <a:t>Fil d’actualité.</a:t>
            </a:r>
          </a:p>
          <a:p>
            <a:r>
              <a:rPr lang="fr-FR" dirty="0"/>
              <a:t>Liste des membres.</a:t>
            </a:r>
          </a:p>
          <a:p>
            <a:r>
              <a:rPr lang="fr-FR" dirty="0"/>
              <a:t>Gestion des droits.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Assistant de cuisine</a:t>
            </a:r>
          </a:p>
          <a:p>
            <a:r>
              <a:rPr lang="fr-FR" dirty="0"/>
              <a:t>Affichage plein écran.</a:t>
            </a:r>
          </a:p>
          <a:p>
            <a:r>
              <a:rPr lang="fr-FR" dirty="0"/>
              <a:t>Minuterie visible.</a:t>
            </a:r>
          </a:p>
          <a:p>
            <a:r>
              <a:rPr lang="fr-FR" dirty="0"/>
              <a:t>Boutons pause/reprise.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46815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AD5AC9-46A0-CB22-8C6C-6A2317D8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Accessibilité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EFE070B-D377-DDAA-B3CB-4536BBA1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Fonctionnalités</a:t>
            </a:r>
          </a:p>
          <a:p>
            <a:r>
              <a:rPr lang="fr-FR" dirty="0"/>
              <a:t>Mode contraste élevé.</a:t>
            </a:r>
          </a:p>
          <a:p>
            <a:r>
              <a:rPr lang="fr-FR" dirty="0"/>
              <a:t>Taille de police ajustable.</a:t>
            </a:r>
          </a:p>
          <a:p>
            <a:r>
              <a:rPr lang="fr-FR" dirty="0"/>
              <a:t>Navigation clavier.</a:t>
            </a:r>
          </a:p>
          <a:p>
            <a:r>
              <a:rPr lang="fr-FR" dirty="0"/>
              <a:t>Lecture audio des recettes.</a:t>
            </a:r>
          </a:p>
          <a:p>
            <a:r>
              <a:rPr lang="fr-FR" dirty="0"/>
              <a:t>Compatibilité lecteurs d’écran.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133B76D-5FC8-1545-BFAE-326D54A17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Inclusion</a:t>
            </a:r>
            <a:r>
              <a:rPr lang="fr-FR" dirty="0"/>
              <a:t> </a:t>
            </a:r>
          </a:p>
          <a:p>
            <a:r>
              <a:rPr lang="fr-FR" i="1" dirty="0"/>
              <a:t>Une application pensée pour tous, sans exception.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4121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6D106B7-461C-4B51-0869-FAECEB1A66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Spécifications techniques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42C89018-A59C-83AC-D7C8-C104D3294F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4822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0B2DBE-CB3D-3D9E-EC61-FF399CC4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706474-DE68-D50C-40F1-BFF98D73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Bon App’ repose sur une architecture moderne, modulaire et scalable, pensée pour supporter une croissance progressive du nombre d’utilisateurs et de recettes.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Composants principaux</a:t>
            </a:r>
          </a:p>
          <a:p>
            <a:r>
              <a:rPr lang="fr-FR" b="1" dirty="0"/>
              <a:t>Application mobile</a:t>
            </a:r>
            <a:r>
              <a:rPr lang="fr-FR" dirty="0"/>
              <a:t> (iOS &amp; Android) — architecture mobile-first.</a:t>
            </a:r>
          </a:p>
          <a:p>
            <a:r>
              <a:rPr lang="fr-FR" b="1" dirty="0"/>
              <a:t>Backend API</a:t>
            </a:r>
            <a:r>
              <a:rPr lang="fr-FR" dirty="0"/>
              <a:t> — gestion des recettes, utilisateurs, espaces familiaux, OCR, permissions.</a:t>
            </a:r>
          </a:p>
          <a:p>
            <a:r>
              <a:rPr lang="fr-FR" b="1" dirty="0"/>
              <a:t>Base de données</a:t>
            </a:r>
            <a:r>
              <a:rPr lang="fr-FR" dirty="0"/>
              <a:t> — stockage structuré des recettes, médias, variantes, métadonnées.</a:t>
            </a:r>
          </a:p>
          <a:p>
            <a:r>
              <a:rPr lang="fr-FR" b="1" dirty="0"/>
              <a:t>Service OCR</a:t>
            </a:r>
            <a:r>
              <a:rPr lang="fr-FR" dirty="0"/>
              <a:t> — moteur interne ou service tiers (Google Vision, AWS </a:t>
            </a:r>
            <a:r>
              <a:rPr lang="fr-FR" dirty="0" err="1"/>
              <a:t>Textract</a:t>
            </a:r>
            <a:r>
              <a:rPr lang="fr-FR" dirty="0"/>
              <a:t>).</a:t>
            </a:r>
          </a:p>
          <a:p>
            <a:r>
              <a:rPr lang="fr-FR" b="1" dirty="0"/>
              <a:t>Service de nettoyage d’image</a:t>
            </a:r>
            <a:r>
              <a:rPr lang="fr-FR" dirty="0"/>
              <a:t> — pipeline de traitement (contraste, recadrage, correction).</a:t>
            </a:r>
          </a:p>
          <a:p>
            <a:r>
              <a:rPr lang="fr-FR" b="1" dirty="0"/>
              <a:t>Système de notifications</a:t>
            </a:r>
            <a:r>
              <a:rPr lang="fr-FR" dirty="0"/>
              <a:t> — push en temps réel.</a:t>
            </a:r>
          </a:p>
          <a:p>
            <a:r>
              <a:rPr lang="fr-FR" b="1" dirty="0"/>
              <a:t>Stockage médias</a:t>
            </a:r>
            <a:r>
              <a:rPr lang="fr-FR" dirty="0"/>
              <a:t> — images, vidéos, notes vocales.</a:t>
            </a:r>
          </a:p>
          <a:p>
            <a:r>
              <a:rPr lang="fr-FR" b="1" dirty="0"/>
              <a:t>Intégrations externes</a:t>
            </a:r>
            <a:r>
              <a:rPr lang="fr-FR" dirty="0"/>
              <a:t> — impression, réseaux sociaux, messageries.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12277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B1D4-484F-F818-2C87-C78B091C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9F19A4-60AD-E6D2-ABB7-3889E98D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technique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E1324A-61C2-AC91-69B1-9D73429EE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Objectifs techniques</a:t>
            </a:r>
          </a:p>
          <a:p>
            <a:r>
              <a:rPr lang="fr-FR" dirty="0"/>
              <a:t>Rapidité</a:t>
            </a:r>
          </a:p>
          <a:p>
            <a:r>
              <a:rPr lang="fr-FR" dirty="0"/>
              <a:t>Résilience</a:t>
            </a:r>
          </a:p>
          <a:p>
            <a:r>
              <a:rPr lang="fr-FR" dirty="0"/>
              <a:t>Sécurité</a:t>
            </a:r>
          </a:p>
          <a:p>
            <a:r>
              <a:rPr lang="fr-FR" dirty="0"/>
              <a:t>Simplicité de maintenance</a:t>
            </a:r>
          </a:p>
          <a:p>
            <a:r>
              <a:rPr lang="fr-FR" dirty="0"/>
              <a:t>Compatibilité multi-plateforme</a:t>
            </a:r>
            <a:endParaRPr lang="fr-F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07146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10058-E959-8492-2031-C13A127C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Architecture fonctionnelle — Vue d’ensemble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68A-8609-A319-E2EA-096487706B05}"/>
              </a:ext>
            </a:extLst>
          </p:cNvPr>
          <p:cNvSpPr/>
          <p:nvPr/>
        </p:nvSpPr>
        <p:spPr>
          <a:xfrm>
            <a:off x="1469037" y="1816365"/>
            <a:ext cx="1746379" cy="10711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/>
              <a:t>Utilisateurs</a:t>
            </a:r>
          </a:p>
          <a:p>
            <a:pPr algn="ctr"/>
            <a:endParaRPr lang="fr-FR" sz="1400" b="1" dirty="0"/>
          </a:p>
          <a:p>
            <a:r>
              <a:rPr lang="fr-FR" sz="1000" dirty="0"/>
              <a:t>Marie (traditions)</a:t>
            </a:r>
          </a:p>
          <a:p>
            <a:r>
              <a:rPr lang="fr-FR" sz="1000" dirty="0"/>
              <a:t>Paul (parent pressé)</a:t>
            </a:r>
          </a:p>
          <a:p>
            <a:r>
              <a:rPr lang="fr-FR" sz="1000" dirty="0"/>
              <a:t>Sophie (passionnée)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421194-EECA-5D56-C8D3-F6AC106CE50F}"/>
              </a:ext>
            </a:extLst>
          </p:cNvPr>
          <p:cNvSpPr/>
          <p:nvPr/>
        </p:nvSpPr>
        <p:spPr>
          <a:xfrm>
            <a:off x="838200" y="3635694"/>
            <a:ext cx="3008054" cy="15054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/>
              <a:t>Application mobile (iOS, Android)</a:t>
            </a:r>
          </a:p>
          <a:p>
            <a:pPr algn="ctr"/>
            <a:endParaRPr lang="fr-FR" sz="1400" b="1" dirty="0"/>
          </a:p>
          <a:p>
            <a:r>
              <a:rPr lang="fr-FR" sz="1000" dirty="0"/>
              <a:t>Capture (photo, WhatsApp, OCR)</a:t>
            </a:r>
          </a:p>
          <a:p>
            <a:r>
              <a:rPr lang="fr-FR" sz="1000" dirty="0"/>
              <a:t>Fiches recettes</a:t>
            </a:r>
          </a:p>
          <a:p>
            <a:r>
              <a:rPr lang="fr-FR" sz="1000" dirty="0"/>
              <a:t>Espaces familiaux</a:t>
            </a:r>
          </a:p>
          <a:p>
            <a:r>
              <a:rPr lang="fr-FR" sz="1000" dirty="0"/>
              <a:t>Assistant de cuisine</a:t>
            </a:r>
          </a:p>
          <a:p>
            <a:r>
              <a:rPr lang="fr-FR" sz="1000" dirty="0"/>
              <a:t>Recherche &amp; organisation</a:t>
            </a:r>
          </a:p>
          <a:p>
            <a:r>
              <a:rPr lang="fr-FR" sz="1000" dirty="0"/>
              <a:t>Historique &amp; émotions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488F1-3A18-8E58-583F-2D35829DA4C4}"/>
              </a:ext>
            </a:extLst>
          </p:cNvPr>
          <p:cNvSpPr/>
          <p:nvPr/>
        </p:nvSpPr>
        <p:spPr>
          <a:xfrm>
            <a:off x="4439387" y="3597359"/>
            <a:ext cx="2611015" cy="1582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/>
              <a:t>Backend API</a:t>
            </a:r>
          </a:p>
          <a:p>
            <a:pPr algn="ctr"/>
            <a:endParaRPr lang="fr-FR" sz="1400" b="1" dirty="0"/>
          </a:p>
          <a:p>
            <a:r>
              <a:rPr lang="fr-FR" sz="1000" dirty="0"/>
              <a:t>Gestion utilisateurs</a:t>
            </a:r>
          </a:p>
          <a:p>
            <a:r>
              <a:rPr lang="fr-FR" sz="1000" dirty="0"/>
              <a:t>Gestion recettes, variantes</a:t>
            </a:r>
          </a:p>
          <a:p>
            <a:r>
              <a:rPr lang="fr-FR" sz="1000" dirty="0"/>
              <a:t>Gestion espaces familiaux</a:t>
            </a:r>
          </a:p>
          <a:p>
            <a:r>
              <a:rPr lang="fr-FR" sz="1000" dirty="0"/>
              <a:t>Permissions &amp; rôles</a:t>
            </a:r>
          </a:p>
          <a:p>
            <a:r>
              <a:rPr lang="fr-FR" sz="1000" dirty="0"/>
              <a:t>Partage &amp; liens privés</a:t>
            </a:r>
          </a:p>
          <a:p>
            <a:r>
              <a:rPr lang="fr-FR" sz="1000" dirty="0"/>
              <a:t>Recherche (indexation, filtres)</a:t>
            </a:r>
          </a:p>
          <a:p>
            <a:r>
              <a:rPr lang="fr-FR" sz="1000" dirty="0"/>
              <a:t>Notifications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D87EE-B372-DF29-8094-CDF997244830}"/>
              </a:ext>
            </a:extLst>
          </p:cNvPr>
          <p:cNvSpPr/>
          <p:nvPr/>
        </p:nvSpPr>
        <p:spPr>
          <a:xfrm>
            <a:off x="8274376" y="1569095"/>
            <a:ext cx="2882509" cy="3385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/>
              <a:t>Services spécialisés</a:t>
            </a:r>
          </a:p>
          <a:p>
            <a:pPr algn="ctr"/>
            <a:endParaRPr lang="fr-FR" sz="1400" b="1" dirty="0"/>
          </a:p>
          <a:p>
            <a:r>
              <a:rPr lang="fr-FR" sz="1000" dirty="0"/>
              <a:t>OCR &amp; nettoyage d’image</a:t>
            </a:r>
          </a:p>
          <a:p>
            <a:r>
              <a:rPr lang="fr-FR" sz="1000" dirty="0"/>
              <a:t>- Détection ingrédients / étapes</a:t>
            </a:r>
          </a:p>
          <a:p>
            <a:r>
              <a:rPr lang="fr-FR" sz="1000" dirty="0"/>
              <a:t>- Correction perspectives, contrastes, ombres</a:t>
            </a:r>
          </a:p>
          <a:p>
            <a:endParaRPr lang="fr-FR" sz="1000" dirty="0"/>
          </a:p>
          <a:p>
            <a:r>
              <a:rPr lang="fr-FR" sz="1000" dirty="0"/>
              <a:t>Stockage médias</a:t>
            </a:r>
          </a:p>
          <a:p>
            <a:r>
              <a:rPr lang="fr-FR" sz="1000" dirty="0"/>
              <a:t>- Images, vidéos, notes vocales</a:t>
            </a:r>
          </a:p>
          <a:p>
            <a:endParaRPr lang="fr-FR" sz="1000" dirty="0"/>
          </a:p>
          <a:p>
            <a:r>
              <a:rPr lang="fr-FR" sz="1000" dirty="0"/>
              <a:t>Notifications push</a:t>
            </a:r>
          </a:p>
          <a:p>
            <a:r>
              <a:rPr lang="fr-FR" sz="1000" dirty="0"/>
              <a:t>- Temps réel (commentaires, variantes, ajouts)</a:t>
            </a:r>
          </a:p>
          <a:p>
            <a:endParaRPr lang="fr-FR" sz="1000" dirty="0"/>
          </a:p>
          <a:p>
            <a:r>
              <a:rPr lang="fr-FR" sz="1000" dirty="0"/>
              <a:t>Impression (livre physique)</a:t>
            </a:r>
          </a:p>
          <a:p>
            <a:r>
              <a:rPr lang="fr-FR" sz="1000" dirty="0"/>
              <a:t>- Génération PDF</a:t>
            </a:r>
          </a:p>
          <a:p>
            <a:r>
              <a:rPr lang="fr-FR" sz="1000" dirty="0"/>
              <a:t>- Intégration services tiers</a:t>
            </a:r>
          </a:p>
          <a:p>
            <a:endParaRPr lang="fr-FR" sz="1000" dirty="0"/>
          </a:p>
          <a:p>
            <a:r>
              <a:rPr lang="fr-FR" sz="1000" dirty="0"/>
              <a:t>IA (Phase 3)</a:t>
            </a:r>
          </a:p>
          <a:p>
            <a:r>
              <a:rPr lang="fr-FR" sz="1000" dirty="0"/>
              <a:t>- Suggestions recettes</a:t>
            </a:r>
          </a:p>
          <a:p>
            <a:r>
              <a:rPr lang="fr-FR" sz="1000" dirty="0"/>
              <a:t>- Analyse nutritionnelle</a:t>
            </a:r>
          </a:p>
          <a:p>
            <a:r>
              <a:rPr lang="fr-FR" sz="1000" dirty="0"/>
              <a:t>- Variantes intelligentes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E4794D-359F-5816-F207-FDBACE3BF884}"/>
              </a:ext>
            </a:extLst>
          </p:cNvPr>
          <p:cNvSpPr/>
          <p:nvPr/>
        </p:nvSpPr>
        <p:spPr>
          <a:xfrm>
            <a:off x="8274376" y="5076555"/>
            <a:ext cx="2882509" cy="1337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1400" b="1" dirty="0"/>
              <a:t>Base de données</a:t>
            </a:r>
          </a:p>
          <a:p>
            <a:pPr algn="ctr"/>
            <a:endParaRPr lang="fr-FR" sz="1400" b="1" dirty="0"/>
          </a:p>
          <a:p>
            <a:r>
              <a:rPr lang="fr-FR" sz="1000" dirty="0"/>
              <a:t>Recettes structurées</a:t>
            </a:r>
          </a:p>
          <a:p>
            <a:r>
              <a:rPr lang="fr-FR" sz="1000" dirty="0"/>
              <a:t>Variantes &amp; chronologie</a:t>
            </a:r>
          </a:p>
          <a:p>
            <a:r>
              <a:rPr lang="fr-FR" sz="1000" dirty="0"/>
              <a:t>Espaces familiaux &amp; permissions</a:t>
            </a:r>
          </a:p>
          <a:p>
            <a:r>
              <a:rPr lang="fr-FR" sz="1000" dirty="0"/>
              <a:t>Métadonnées  (tag, temps, auteurs)</a:t>
            </a:r>
          </a:p>
          <a:p>
            <a:r>
              <a:rPr lang="fr-FR" sz="1000" dirty="0"/>
              <a:t>Historique &amp; activités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C9387208-EFEF-9F51-961F-134ACF8A3C2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342227" y="2887538"/>
            <a:ext cx="0" cy="74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20398518-62F5-459A-4B24-2CB9E32A558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846254" y="4388436"/>
            <a:ext cx="5931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 : en angle 48">
            <a:extLst>
              <a:ext uri="{FF2B5EF4-FFF2-40B4-BE49-F238E27FC236}">
                <a16:creationId xmlns:a16="http://schemas.microsoft.com/office/drawing/2014/main" id="{058A9B32-66C9-FBC0-D7C1-A1D9E0B00C38}"/>
              </a:ext>
            </a:extLst>
          </p:cNvPr>
          <p:cNvCxnSpPr>
            <a:stCxn id="6" idx="0"/>
            <a:endCxn id="7" idx="1"/>
          </p:cNvCxnSpPr>
          <p:nvPr/>
        </p:nvCxnSpPr>
        <p:spPr>
          <a:xfrm rot="5400000" flipH="1" flipV="1">
            <a:off x="6841764" y="2164748"/>
            <a:ext cx="335743" cy="25294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 : en angle 50">
            <a:extLst>
              <a:ext uri="{FF2B5EF4-FFF2-40B4-BE49-F238E27FC236}">
                <a16:creationId xmlns:a16="http://schemas.microsoft.com/office/drawing/2014/main" id="{4EF5B353-D22B-010D-D126-1A0A9CEC0076}"/>
              </a:ext>
            </a:extLst>
          </p:cNvPr>
          <p:cNvCxnSpPr>
            <a:stCxn id="6" idx="2"/>
            <a:endCxn id="8" idx="1"/>
          </p:cNvCxnSpPr>
          <p:nvPr/>
        </p:nvCxnSpPr>
        <p:spPr>
          <a:xfrm rot="16200000" flipH="1">
            <a:off x="6726786" y="4197621"/>
            <a:ext cx="565699" cy="25294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87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BFBDD-DB51-D3D1-28F9-340BA959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Contraintes non fonctionnelles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2D80AF-084F-C4AC-CE05-802C9C538C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Performance</a:t>
            </a:r>
          </a:p>
          <a:p>
            <a:r>
              <a:rPr lang="fr-FR" dirty="0"/>
              <a:t>Temps de chargement &lt; 2 secondes.</a:t>
            </a:r>
          </a:p>
          <a:p>
            <a:r>
              <a:rPr lang="fr-FR" dirty="0"/>
              <a:t>OCR traité en moins de 5 secondes.</a:t>
            </a:r>
          </a:p>
          <a:p>
            <a:r>
              <a:rPr lang="fr-FR" dirty="0"/>
              <a:t>Recherche instantanée (&lt; 300 ms).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Sécurité</a:t>
            </a:r>
          </a:p>
          <a:p>
            <a:r>
              <a:rPr lang="fr-FR" dirty="0"/>
              <a:t>Chiffrement des données en transit et au repos.</a:t>
            </a:r>
          </a:p>
          <a:p>
            <a:r>
              <a:rPr lang="fr-FR" dirty="0"/>
              <a:t>Permissions strictes dans les espaces familiaux.</a:t>
            </a:r>
          </a:p>
          <a:p>
            <a:r>
              <a:rPr lang="fr-FR" dirty="0"/>
              <a:t>Journalisation des accès sensibles.</a:t>
            </a:r>
          </a:p>
          <a:p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6C5A76C-6534-1C09-75C5-81A80641AD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Support offline</a:t>
            </a:r>
          </a:p>
          <a:p>
            <a:r>
              <a:rPr lang="fr-FR" dirty="0"/>
              <a:t>Consultation des recettes sans connexion.</a:t>
            </a:r>
          </a:p>
          <a:p>
            <a:r>
              <a:rPr lang="fr-FR" dirty="0"/>
              <a:t>Synchronisation automatique au retour en ligne.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Compatibilité</a:t>
            </a:r>
          </a:p>
          <a:p>
            <a:r>
              <a:rPr lang="fr-FR" dirty="0"/>
              <a:t>iOS et Android (versions récentes).</a:t>
            </a:r>
          </a:p>
          <a:p>
            <a:r>
              <a:rPr lang="fr-FR" dirty="0"/>
              <a:t>Optimisation pour écrans petits et moyens.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7323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EA111-DD9C-B90B-DE6C-AFA09004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Intégrations externes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A3F9E69-020A-F8AF-8971-450282058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Services d’impression</a:t>
            </a:r>
          </a:p>
          <a:p>
            <a:r>
              <a:rPr lang="fr-FR" dirty="0"/>
              <a:t>API pour générer des livres imprimés.</a:t>
            </a:r>
          </a:p>
          <a:p>
            <a:r>
              <a:rPr lang="fr-FR" dirty="0"/>
              <a:t>Gestion des commandes et statuts.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Plateformes sociales</a:t>
            </a:r>
          </a:p>
          <a:p>
            <a:r>
              <a:rPr lang="fr-FR" dirty="0"/>
              <a:t>Partage de recettes publiques.</a:t>
            </a:r>
          </a:p>
          <a:p>
            <a:r>
              <a:rPr lang="fr-FR" dirty="0"/>
              <a:t>Authentification possible via réseaux sociaux.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Appareils connectés (futur)</a:t>
            </a:r>
          </a:p>
          <a:p>
            <a:r>
              <a:rPr lang="fr-FR" dirty="0"/>
              <a:t>Balances, fours, assistants vocaux.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09809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636494-9F2A-B367-501C-78DF2309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données personnelles (RGPD)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BD45B9-0DA3-0D8F-50D5-9943F8081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Principes</a:t>
            </a:r>
          </a:p>
          <a:p>
            <a:r>
              <a:rPr lang="fr-FR" dirty="0"/>
              <a:t>Collecte minimale.</a:t>
            </a:r>
          </a:p>
          <a:p>
            <a:r>
              <a:rPr lang="fr-FR" dirty="0"/>
              <a:t>Consentement explicite.</a:t>
            </a:r>
          </a:p>
          <a:p>
            <a:r>
              <a:rPr lang="fr-FR" dirty="0"/>
              <a:t>Transparence totale.</a:t>
            </a:r>
          </a:p>
          <a:p>
            <a:r>
              <a:rPr lang="fr-FR" dirty="0"/>
              <a:t>Droits utilisateurs garantis.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Mesures</a:t>
            </a:r>
          </a:p>
          <a:p>
            <a:r>
              <a:rPr lang="fr-FR" dirty="0"/>
              <a:t>Chiffrement complet.</a:t>
            </a:r>
          </a:p>
          <a:p>
            <a:r>
              <a:rPr lang="fr-FR" dirty="0" err="1"/>
              <a:t>Pseudonymisation</a:t>
            </a:r>
            <a:r>
              <a:rPr lang="fr-FR" dirty="0"/>
              <a:t> lorsque possible.</a:t>
            </a:r>
          </a:p>
          <a:p>
            <a:r>
              <a:rPr lang="fr-FR" dirty="0"/>
              <a:t>Journalisation des accès.</a:t>
            </a:r>
          </a:p>
          <a:p>
            <a:r>
              <a:rPr lang="fr-FR" dirty="0"/>
              <a:t>Procédures en cas de violation.</a:t>
            </a:r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56BA3F-5F4E-362D-83B9-A84A3AC30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Engagement RGPD</a:t>
            </a:r>
            <a:r>
              <a:rPr lang="fr-FR" dirty="0"/>
              <a:t> </a:t>
            </a:r>
          </a:p>
          <a:p>
            <a:r>
              <a:rPr lang="fr-FR" i="1" dirty="0"/>
              <a:t>La confidentialité n’est pas une option : c’est un pilier du produit.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893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03BEEB6-93D6-8EDA-C776-115E5908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erreurs &amp; messages utilisateurs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9E37860-DF8B-D15A-C6D7-66B9982CD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943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AAE1778-490E-3467-D4C8-E6AC5660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d’erreurs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EABDDB7-989A-06CA-8210-F5305A6C5A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Erreurs réseau</a:t>
            </a:r>
          </a:p>
          <a:p>
            <a:r>
              <a:rPr lang="fr-FR" dirty="0"/>
              <a:t>Déconnexion</a:t>
            </a:r>
          </a:p>
          <a:p>
            <a:r>
              <a:rPr lang="fr-FR" dirty="0"/>
              <a:t>Serveur indisponible</a:t>
            </a:r>
          </a:p>
          <a:p>
            <a:r>
              <a:rPr lang="fr-FR" dirty="0"/>
              <a:t>Timeout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Erreurs de saisie</a:t>
            </a:r>
          </a:p>
          <a:p>
            <a:r>
              <a:rPr lang="fr-FR" dirty="0"/>
              <a:t>Champs incomplets</a:t>
            </a:r>
          </a:p>
          <a:p>
            <a:r>
              <a:rPr lang="fr-FR" dirty="0"/>
              <a:t>Formats incorrects</a:t>
            </a:r>
          </a:p>
          <a:p>
            <a:r>
              <a:rPr lang="fr-FR" dirty="0"/>
              <a:t>OCR ambigu</a:t>
            </a:r>
          </a:p>
          <a:p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E8ED98-9C17-3EE0-B0DC-BC6D6A95ED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Erreurs système</a:t>
            </a:r>
          </a:p>
          <a:p>
            <a:r>
              <a:rPr lang="fr-FR" dirty="0"/>
              <a:t>Problèmes de synchronisation</a:t>
            </a:r>
          </a:p>
          <a:p>
            <a:r>
              <a:rPr lang="fr-FR" dirty="0"/>
              <a:t>Conflits de versions</a:t>
            </a:r>
          </a:p>
          <a:p>
            <a:r>
              <a:rPr lang="fr-FR" dirty="0"/>
              <a:t>Permissions insuffisantes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901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926B5CF-FD04-2669-5250-8EBC2BD89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Feedback utilisateur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62B6E0A-6598-3768-D82F-066060662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Principes</a:t>
            </a:r>
          </a:p>
          <a:p>
            <a:r>
              <a:rPr lang="fr-FR" dirty="0"/>
              <a:t>Messages clairs, visibles, non techniques.</a:t>
            </a:r>
          </a:p>
          <a:p>
            <a:r>
              <a:rPr lang="fr-FR" dirty="0"/>
              <a:t>Ton bienveillant et rassurant.</a:t>
            </a:r>
          </a:p>
          <a:p>
            <a:r>
              <a:rPr lang="fr-FR" dirty="0"/>
              <a:t>Indication de la marche à suivre.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Exemples</a:t>
            </a:r>
          </a:p>
          <a:p>
            <a:r>
              <a:rPr lang="fr-FR" dirty="0"/>
              <a:t>“Impossible de charger la recette. Vérifiez votre connexion.”</a:t>
            </a:r>
          </a:p>
          <a:p>
            <a:r>
              <a:rPr lang="fr-FR" dirty="0"/>
              <a:t>“Nous n’avons pas reconnu certains ingrédients. Voulez-vous les corriger ?”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07489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93BE30-BA09-C73D-C478-5A8CB328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Journalisation &amp; monitoring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9E3BE9-4CE4-25FC-9E85-EABB9642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Objectifs</a:t>
            </a:r>
          </a:p>
          <a:p>
            <a:r>
              <a:rPr lang="fr-FR" dirty="0"/>
              <a:t>Détection rapide des anomalies.</a:t>
            </a:r>
          </a:p>
          <a:p>
            <a:r>
              <a:rPr lang="fr-FR" dirty="0"/>
              <a:t>Analyse des erreurs fréquentes.</a:t>
            </a:r>
          </a:p>
          <a:p>
            <a:r>
              <a:rPr lang="fr-FR" dirty="0"/>
              <a:t>Amélioration continue.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Outils</a:t>
            </a:r>
          </a:p>
          <a:p>
            <a:r>
              <a:rPr lang="fr-FR" dirty="0"/>
              <a:t>Logs serveur</a:t>
            </a:r>
          </a:p>
          <a:p>
            <a:r>
              <a:rPr lang="fr-FR" dirty="0" err="1"/>
              <a:t>Dashboards</a:t>
            </a:r>
            <a:endParaRPr lang="fr-FR" dirty="0"/>
          </a:p>
          <a:p>
            <a:r>
              <a:rPr lang="fr-FR" dirty="0"/>
              <a:t>Alertes en temps réel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16844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1A7C5-4EDB-A245-6539-48F1EB6D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Reprise automatique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0DF7EE-D450-E195-08DF-60C996DB9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Fonctionnalités</a:t>
            </a:r>
          </a:p>
          <a:p>
            <a:r>
              <a:rPr lang="fr-FR" dirty="0"/>
              <a:t>Reprise de téléchargement.</a:t>
            </a:r>
          </a:p>
          <a:p>
            <a:r>
              <a:rPr lang="fr-FR" dirty="0"/>
              <a:t>Sauvegarde locale temporaire.</a:t>
            </a:r>
          </a:p>
          <a:p>
            <a:r>
              <a:rPr lang="fr-FR" dirty="0"/>
              <a:t>Synchronisation différée.</a:t>
            </a:r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DFC449A-B301-495D-C900-A9174D64C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Philosophie UX</a:t>
            </a:r>
            <a:r>
              <a:rPr lang="fr-FR" dirty="0"/>
              <a:t> </a:t>
            </a:r>
          </a:p>
          <a:p>
            <a:r>
              <a:rPr lang="fr-FR" i="1" dirty="0"/>
              <a:t>L’utilisateur ne doit jamais perdre son travail.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95355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F694CAB-1D9F-4C97-2EE2-EB8922AB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Monétisation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929B87-C657-2A2A-8C7B-F8B47467A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6394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C7C1B92-A992-E24F-077D-CF30F5A9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Freemium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EAD9AB8-620D-ED8C-969F-C50AAE3B67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Fonctionnalités gratuites</a:t>
            </a:r>
          </a:p>
          <a:p>
            <a:r>
              <a:rPr lang="fr-FR" dirty="0"/>
              <a:t>Ajout de recettes (limité).</a:t>
            </a:r>
          </a:p>
          <a:p>
            <a:r>
              <a:rPr lang="fr-FR" dirty="0"/>
              <a:t>OCR basique.</a:t>
            </a:r>
          </a:p>
          <a:p>
            <a:r>
              <a:rPr lang="fr-FR" dirty="0"/>
              <a:t>Consultation offline.</a:t>
            </a:r>
          </a:p>
          <a:p>
            <a:r>
              <a:rPr lang="fr-FR" dirty="0"/>
              <a:t>Recherche simple.</a:t>
            </a:r>
          </a:p>
          <a:p>
            <a:pPr marL="0" indent="0">
              <a:buNone/>
            </a:pPr>
            <a:endParaRPr lang="fr-FR" b="1" dirty="0"/>
          </a:p>
          <a:p>
            <a:endParaRPr lang="fr-FR" dirty="0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9B813AD-CF59-97A3-8B37-289F51D8F5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Limitations</a:t>
            </a:r>
          </a:p>
          <a:p>
            <a:r>
              <a:rPr lang="fr-FR" dirty="0"/>
              <a:t>Nombre de recettes limité.</a:t>
            </a:r>
          </a:p>
          <a:p>
            <a:r>
              <a:rPr lang="fr-FR" dirty="0"/>
              <a:t>Pas d’espace familial.</a:t>
            </a:r>
          </a:p>
          <a:p>
            <a:r>
              <a:rPr lang="fr-FR" dirty="0"/>
              <a:t>Pas de variantes avancées.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3229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E96600-9F5E-8AA0-13EB-FB7FDE21A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3DF7A8-3CED-26F2-F4C7-04CF388318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Fonctionnalités premium</a:t>
            </a:r>
          </a:p>
          <a:p>
            <a:r>
              <a:rPr lang="fr-FR" dirty="0"/>
              <a:t>Recettes illimitées.</a:t>
            </a:r>
          </a:p>
          <a:p>
            <a:r>
              <a:rPr lang="fr-FR" dirty="0"/>
              <a:t>Espaces familiaux.</a:t>
            </a:r>
          </a:p>
          <a:p>
            <a:r>
              <a:rPr lang="fr-FR" dirty="0"/>
              <a:t>Variantes collaboratives.</a:t>
            </a:r>
          </a:p>
          <a:p>
            <a:r>
              <a:rPr lang="fr-FR" dirty="0"/>
              <a:t>Assistant de cuisine.</a:t>
            </a:r>
          </a:p>
          <a:p>
            <a:r>
              <a:rPr lang="fr-FR" dirty="0"/>
              <a:t>Livre imprimé (réduction).</a:t>
            </a:r>
          </a:p>
          <a:p>
            <a:r>
              <a:rPr lang="fr-FR" dirty="0"/>
              <a:t>Recherche avancée.</a:t>
            </a:r>
          </a:p>
          <a:p>
            <a:r>
              <a:rPr lang="fr-FR" dirty="0"/>
              <a:t>OCR premium + nettoyage amélioré.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6BA88B-D393-F924-3487-3EC1CD3279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Créer une valeur perçue forte, justifiant l’abonnement.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9283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35390-E7C9-354A-C8B9-4D80B2B2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Livres imprimés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83BEB1-BACD-1A34-021B-181B9052C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Modèle économique</a:t>
            </a:r>
          </a:p>
          <a:p>
            <a:r>
              <a:rPr lang="fr-FR" dirty="0"/>
              <a:t>Vente directe via l’application.</a:t>
            </a:r>
          </a:p>
          <a:p>
            <a:r>
              <a:rPr lang="fr-FR" dirty="0"/>
              <a:t>Marges sur impression.</a:t>
            </a:r>
          </a:p>
          <a:p>
            <a:r>
              <a:rPr lang="fr-FR" dirty="0"/>
              <a:t>Options cadeau.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Valeur émotionnelle</a:t>
            </a:r>
          </a:p>
          <a:p>
            <a:r>
              <a:rPr lang="fr-FR" dirty="0"/>
              <a:t>Héritage tangible.</a:t>
            </a:r>
          </a:p>
          <a:p>
            <a:r>
              <a:rPr lang="fr-FR" dirty="0"/>
              <a:t>Cadeau familial idéal.</a:t>
            </a:r>
          </a:p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C503C7-1C39-45D1-9500-522AE53F9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Différenciation business</a:t>
            </a:r>
            <a:r>
              <a:rPr lang="fr-FR" dirty="0"/>
              <a:t> </a:t>
            </a:r>
          </a:p>
          <a:p>
            <a:r>
              <a:rPr lang="fr-FR" i="1" dirty="0"/>
              <a:t>Un modèle hybride digital + physique, rare dans les apps culinaires.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06000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02FC5D3A-706F-43A8-FDC0-5502ECBF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tests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2133872-04DA-DC86-0284-79E7C351F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647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470B1569-E1DD-6061-0EF2-674A27D21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fonctionnels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D1CAB88-3D7E-3838-ED6F-DD385A52A1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Capture intelligente</a:t>
            </a:r>
          </a:p>
          <a:p>
            <a:r>
              <a:rPr lang="fr-FR" dirty="0"/>
              <a:t>OCR</a:t>
            </a:r>
          </a:p>
          <a:p>
            <a:r>
              <a:rPr lang="fr-FR" dirty="0"/>
              <a:t>Import WhatsApp</a:t>
            </a:r>
          </a:p>
          <a:p>
            <a:r>
              <a:rPr lang="fr-FR" dirty="0"/>
              <a:t>Nettoyage d’image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Fiches de recettes</a:t>
            </a:r>
          </a:p>
          <a:p>
            <a:r>
              <a:rPr lang="fr-FR" dirty="0"/>
              <a:t>Ajout</a:t>
            </a:r>
          </a:p>
          <a:p>
            <a:r>
              <a:rPr lang="fr-FR" dirty="0"/>
              <a:t>Modification</a:t>
            </a:r>
          </a:p>
          <a:p>
            <a:r>
              <a:rPr lang="fr-FR" dirty="0"/>
              <a:t>Suppression</a:t>
            </a:r>
          </a:p>
          <a:p>
            <a:r>
              <a:rPr lang="fr-FR" dirty="0"/>
              <a:t>Conversions automatiques</a:t>
            </a:r>
          </a:p>
          <a:p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CD18C5F-5728-EEEE-0AD0-1EC81EE470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/>
              <a:t>Espaces familiaux</a:t>
            </a:r>
          </a:p>
          <a:p>
            <a:r>
              <a:rPr lang="fr-FR" dirty="0"/>
              <a:t>Création</a:t>
            </a:r>
          </a:p>
          <a:p>
            <a:r>
              <a:rPr lang="fr-FR" dirty="0"/>
              <a:t>Rôles</a:t>
            </a:r>
          </a:p>
          <a:p>
            <a:r>
              <a:rPr lang="fr-FR" dirty="0"/>
              <a:t>Permissions</a:t>
            </a:r>
          </a:p>
          <a:p>
            <a:r>
              <a:rPr lang="fr-FR" dirty="0"/>
              <a:t>Notifications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Partage</a:t>
            </a:r>
          </a:p>
          <a:p>
            <a:r>
              <a:rPr lang="fr-FR" dirty="0"/>
              <a:t>Public</a:t>
            </a:r>
          </a:p>
          <a:p>
            <a:r>
              <a:rPr lang="fr-FR" dirty="0"/>
              <a:t>Privé</a:t>
            </a:r>
          </a:p>
          <a:p>
            <a:r>
              <a:rPr lang="fr-FR" dirty="0"/>
              <a:t>Lien temporaire</a:t>
            </a:r>
          </a:p>
          <a:p>
            <a:r>
              <a:rPr lang="fr-FR" dirty="0"/>
              <a:t>Groupes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68896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3C7B4-89A6-7BC1-F9B2-92DA67E0B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Tests utilisateurs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9C0DD13-E483-9BF2-82A2-F4DFA5A07F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Basés sur les </a:t>
            </a:r>
            <a:r>
              <a:rPr lang="fr-FR" b="1" dirty="0" err="1"/>
              <a:t>personas</a:t>
            </a:r>
            <a:endParaRPr lang="fr-FR" b="1" dirty="0"/>
          </a:p>
          <a:p>
            <a:r>
              <a:rPr lang="fr-FR" dirty="0"/>
              <a:t>Grand-mère</a:t>
            </a:r>
          </a:p>
          <a:p>
            <a:r>
              <a:rPr lang="fr-FR" dirty="0"/>
              <a:t>Jeune parent</a:t>
            </a:r>
          </a:p>
          <a:p>
            <a:r>
              <a:rPr lang="fr-FR" dirty="0"/>
              <a:t>Cuisinier amateur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Tests d’ergonomie</a:t>
            </a:r>
          </a:p>
          <a:p>
            <a:r>
              <a:rPr lang="fr-FR" dirty="0"/>
              <a:t>Navigation</a:t>
            </a:r>
          </a:p>
          <a:p>
            <a:r>
              <a:rPr lang="fr-FR" dirty="0"/>
              <a:t>Accessibilité</a:t>
            </a:r>
          </a:p>
          <a:p>
            <a:r>
              <a:rPr lang="fr-FR" dirty="0"/>
              <a:t>Compréhension des messages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E79DC1-1C1D-8EA9-4837-E034E06B9F9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Tests de fluidité</a:t>
            </a:r>
          </a:p>
          <a:p>
            <a:r>
              <a:rPr lang="fr-FR" dirty="0"/>
              <a:t>Parcours complet</a:t>
            </a:r>
          </a:p>
          <a:p>
            <a:r>
              <a:rPr lang="fr-FR" dirty="0"/>
              <a:t>Temps de réalisation</a:t>
            </a:r>
          </a:p>
          <a:p>
            <a:r>
              <a:rPr lang="fr-FR" dirty="0"/>
              <a:t>Satisfaction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90206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4C162-3DAC-845C-2C93-A06BA247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d’acceptation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CC78B36-92AF-8907-1D7E-646823F50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Pour chaque fonctionnalité</a:t>
            </a:r>
          </a:p>
          <a:p>
            <a:r>
              <a:rPr lang="fr-FR" dirty="0"/>
              <a:t>Aucun bug bloquant.</a:t>
            </a:r>
          </a:p>
          <a:p>
            <a:r>
              <a:rPr lang="fr-FR" dirty="0"/>
              <a:t>Parcours réalisable sans aide.</a:t>
            </a:r>
          </a:p>
          <a:p>
            <a:r>
              <a:rPr lang="fr-FR" dirty="0"/>
              <a:t>Messages d’erreur compréhensibles.</a:t>
            </a:r>
          </a:p>
          <a:p>
            <a:r>
              <a:rPr lang="fr-FR" dirty="0"/>
              <a:t>Performance conforme aux objectifs.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4D63FC9-57B6-3578-B46B-8A66E840E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Objectif qualité</a:t>
            </a:r>
            <a:r>
              <a:rPr lang="fr-FR" dirty="0"/>
              <a:t> </a:t>
            </a:r>
          </a:p>
          <a:p>
            <a:r>
              <a:rPr lang="fr-FR" i="1" dirty="0"/>
              <a:t>Une application fiable, fluide et agréable dès la première version.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31554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F28BB27-9B15-1001-A97A-ED6DAE01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Formation &amp; documentation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2EA344B-D7E4-B398-3AF0-52F336445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098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015B9B5-D244-F6B2-6D2D-95BC94CB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Guides intégrés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E7E6A74-0CBA-9BB9-17E5-7D8C4BD78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Tutoriels pas-à-pas</a:t>
            </a:r>
          </a:p>
          <a:p>
            <a:r>
              <a:rPr lang="fr-FR" dirty="0"/>
              <a:t>Lors de la première utilisation, l’application propose un parcours guidé pour :</a:t>
            </a:r>
          </a:p>
          <a:p>
            <a:r>
              <a:rPr lang="fr-FR" dirty="0"/>
              <a:t>Capturer une recette</a:t>
            </a:r>
          </a:p>
          <a:p>
            <a:r>
              <a:rPr lang="fr-FR" dirty="0"/>
              <a:t>Corriger l’OCR</a:t>
            </a:r>
          </a:p>
          <a:p>
            <a:r>
              <a:rPr lang="fr-FR" dirty="0"/>
              <a:t>Ajouter une anecdote</a:t>
            </a:r>
          </a:p>
          <a:p>
            <a:r>
              <a:rPr lang="fr-FR" dirty="0"/>
              <a:t>Partager dans un espace familial</a:t>
            </a:r>
          </a:p>
          <a:p>
            <a:r>
              <a:rPr lang="fr-FR" dirty="0"/>
              <a:t>Ces tutoriels sont courts, interactifs et </a:t>
            </a:r>
            <a:r>
              <a:rPr lang="fr-FR" dirty="0" err="1"/>
              <a:t>réactivables</a:t>
            </a:r>
            <a:r>
              <a:rPr lang="fr-FR" dirty="0"/>
              <a:t> à tout moment.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Guides contextuels</a:t>
            </a:r>
          </a:p>
          <a:p>
            <a:r>
              <a:rPr lang="fr-FR" dirty="0"/>
              <a:t>Des bulles d’aide apparaissent lors de l’utilisation de fonctionnalités avancées (variantes, recherche avancée, assistant de cuisine).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7493EB0-F0D0-24EC-9E32-3FD5C6307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Philosophie pédagogique</a:t>
            </a:r>
            <a:r>
              <a:rPr lang="fr-FR" dirty="0"/>
              <a:t> </a:t>
            </a:r>
          </a:p>
          <a:p>
            <a:r>
              <a:rPr lang="fr-FR" i="1" dirty="0"/>
              <a:t>Apprendre en faisant, sans jamais interrompre l’utilisateur.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17327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70E93-3A97-F0BE-B826-B5131D54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FAQ dynamique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9A55BF1-41AC-DDF0-893F-816863C72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Caractéristiques</a:t>
            </a:r>
          </a:p>
          <a:p>
            <a:r>
              <a:rPr lang="fr-FR" dirty="0"/>
              <a:t>Mises à jour régulières</a:t>
            </a:r>
          </a:p>
          <a:p>
            <a:r>
              <a:rPr lang="fr-FR" dirty="0"/>
              <a:t>Recherche intégrée</a:t>
            </a:r>
          </a:p>
          <a:p>
            <a:r>
              <a:rPr lang="fr-FR" dirty="0"/>
              <a:t>Catégories : capture, partage, espaces familiaux, abonnement, impression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Réduire la friction et éviter les tickets de support inutiles.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09269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521FE-0E27-5066-2063-456031630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Vidéos </a:t>
            </a:r>
            <a:r>
              <a:rPr lang="fr-FR" dirty="0" err="1"/>
              <a:t>tutorielles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3E8AF4-CA2B-8DBD-9D6F-1BC7FB58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Formats</a:t>
            </a:r>
          </a:p>
          <a:p>
            <a:r>
              <a:rPr lang="fr-FR" dirty="0"/>
              <a:t>Vidéos courtes (30–60 secondes)</a:t>
            </a:r>
          </a:p>
          <a:p>
            <a:r>
              <a:rPr lang="fr-FR" dirty="0"/>
              <a:t>Démonstrations de capture, partage, variantes</a:t>
            </a:r>
          </a:p>
          <a:p>
            <a:r>
              <a:rPr lang="fr-FR" dirty="0"/>
              <a:t>Accessibles depuis l’application et le site web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9725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DF08AD-2A31-52AB-1371-1DF9513A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Documentation en ligne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E5C13-C20C-0FB0-DB8A-32707CBD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Contenu</a:t>
            </a:r>
          </a:p>
          <a:p>
            <a:r>
              <a:rPr lang="fr-FR" dirty="0"/>
              <a:t>Manuel utilisateur complet</a:t>
            </a:r>
          </a:p>
          <a:p>
            <a:r>
              <a:rPr lang="fr-FR" dirty="0"/>
              <a:t>Index et moteur de recherche</a:t>
            </a:r>
          </a:p>
          <a:p>
            <a:r>
              <a:rPr lang="fr-FR" dirty="0"/>
              <a:t>Exemples de recettes structurées</a:t>
            </a:r>
          </a:p>
          <a:p>
            <a:r>
              <a:rPr lang="fr-FR" dirty="0"/>
              <a:t>Bonnes pratiques pour la capture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66376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9C7C3-2B61-0477-D286-6E7872DAE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Formation des ambassadeurs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8F5771-2AF8-77EC-EA9F-CA1B68AAD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Créer une communauté d’utilisateurs avancés capables d’aider les nouveaux.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Contenu</a:t>
            </a:r>
          </a:p>
          <a:p>
            <a:r>
              <a:rPr lang="fr-FR" dirty="0"/>
              <a:t>Sessions en ligne</a:t>
            </a:r>
          </a:p>
          <a:p>
            <a:r>
              <a:rPr lang="fr-FR" dirty="0"/>
              <a:t>Accès anticipé aux nouvelles fonctionnalités</a:t>
            </a:r>
          </a:p>
          <a:p>
            <a:r>
              <a:rPr lang="fr-FR" dirty="0"/>
              <a:t>Canal dédié pour feedback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6466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B65ACD-C202-5504-FA5A-FE6A0FDDC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Support &amp; maintenance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B75AAD-3FC1-711C-4FFE-97EA5BC9E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9686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F2C6E58-FFF4-8841-0BEF-6726D75C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Système de tickets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90619D0-7681-321B-21B5-85AE81CFE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Fonctionnement</a:t>
            </a:r>
          </a:p>
          <a:p>
            <a:r>
              <a:rPr lang="fr-FR" dirty="0"/>
              <a:t>Catégorisation automatique (bug, suggestion, question)</a:t>
            </a:r>
          </a:p>
          <a:p>
            <a:r>
              <a:rPr lang="fr-FR" dirty="0"/>
              <a:t>Priorisation selon impact</a:t>
            </a:r>
          </a:p>
          <a:p>
            <a:r>
              <a:rPr lang="fr-FR" dirty="0"/>
              <a:t>Suivi du statut en temps réel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78774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A1B38-D9BC-A2F2-8783-8CB7B236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Mises à jour régulières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E7C60-8F94-4F7D-7B9F-F1FC24D4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Types de mises à jour</a:t>
            </a:r>
          </a:p>
          <a:p>
            <a:r>
              <a:rPr lang="fr-FR" dirty="0"/>
              <a:t>Correctifs</a:t>
            </a:r>
          </a:p>
          <a:p>
            <a:r>
              <a:rPr lang="fr-FR" dirty="0"/>
              <a:t>Améliorations UX</a:t>
            </a:r>
          </a:p>
          <a:p>
            <a:r>
              <a:rPr lang="fr-FR" dirty="0"/>
              <a:t>Nouvelles fonctionnalités</a:t>
            </a:r>
          </a:p>
          <a:p>
            <a:r>
              <a:rPr lang="fr-FR" dirty="0"/>
              <a:t>Optimisations de performance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Communication</a:t>
            </a:r>
          </a:p>
          <a:p>
            <a:r>
              <a:rPr lang="fr-FR" dirty="0"/>
              <a:t>Notes de version claires</a:t>
            </a:r>
          </a:p>
          <a:p>
            <a:r>
              <a:rPr lang="fr-FR" dirty="0"/>
              <a:t>Notifications in-app</a:t>
            </a:r>
          </a:p>
          <a:p>
            <a:r>
              <a:rPr lang="fr-FR" dirty="0"/>
              <a:t>Email pour les changements majeurs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85828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FA1A7-3815-DAE6-5B6C-879D6EF7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Support utilisateur intégré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937DA-C6A6-9784-2345-3A321B276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Canaux</a:t>
            </a:r>
          </a:p>
          <a:p>
            <a:r>
              <a:rPr lang="fr-FR" dirty="0"/>
              <a:t>Chat en direct</a:t>
            </a:r>
          </a:p>
          <a:p>
            <a:r>
              <a:rPr lang="fr-FR" dirty="0"/>
              <a:t>Email</a:t>
            </a:r>
          </a:p>
          <a:p>
            <a:r>
              <a:rPr lang="fr-FR" dirty="0"/>
              <a:t>Forum communautaire</a:t>
            </a:r>
          </a:p>
          <a:p>
            <a:r>
              <a:rPr lang="fr-FR" dirty="0"/>
              <a:t>FAQ intégrée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40449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DA7393D-DE5B-54E8-BC82-AB6AAC9F3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Processus de feedback utilisateur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3BDE1E6-69EF-EA78-A3D9-BB787E0E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654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18E9D40-FB68-C8FD-42C8-27437E6F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Collecte continue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851E555-3A5D-79C3-949F-DEE1FC9BF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Méthodes</a:t>
            </a:r>
          </a:p>
          <a:p>
            <a:r>
              <a:rPr lang="fr-FR" dirty="0"/>
              <a:t>Formulaires intégrés</a:t>
            </a:r>
          </a:p>
          <a:p>
            <a:r>
              <a:rPr lang="fr-FR" dirty="0"/>
              <a:t>Sondages rapides</a:t>
            </a:r>
          </a:p>
          <a:p>
            <a:r>
              <a:rPr lang="fr-FR" dirty="0"/>
              <a:t>Notes sur les recettes</a:t>
            </a:r>
          </a:p>
          <a:p>
            <a:r>
              <a:rPr lang="fr-FR" dirty="0"/>
              <a:t>Feedback après utilisation de l’OCR ou du partage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895379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4F713A-9A76-4980-F100-9EF6115D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Analyse qualitative &amp; quantitative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9085EA-F3E5-3A04-66FA-0D42D7DE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Indicateurs</a:t>
            </a:r>
          </a:p>
          <a:p>
            <a:r>
              <a:rPr lang="fr-FR" dirty="0"/>
              <a:t>Taux de satisfaction</a:t>
            </a:r>
          </a:p>
          <a:p>
            <a:r>
              <a:rPr lang="fr-FR" dirty="0"/>
              <a:t>Fréquence des retours</a:t>
            </a:r>
          </a:p>
          <a:p>
            <a:r>
              <a:rPr lang="fr-FR" dirty="0"/>
              <a:t>Types de problèmes récurrents</a:t>
            </a:r>
          </a:p>
          <a:p>
            <a:r>
              <a:rPr lang="fr-FR" dirty="0"/>
              <a:t>Suggestions les plus demandées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85590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B7F7A-BC20-1AD0-05EB-79BD02F4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Intégration dans la roadmap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3357BB-6135-45EB-6A11-4D1F17F4F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Processus</a:t>
            </a:r>
          </a:p>
          <a:p>
            <a:r>
              <a:rPr lang="fr-FR" dirty="0"/>
              <a:t>Collecte</a:t>
            </a:r>
          </a:p>
          <a:p>
            <a:r>
              <a:rPr lang="fr-FR" dirty="0"/>
              <a:t>Analyse</a:t>
            </a:r>
          </a:p>
          <a:p>
            <a:r>
              <a:rPr lang="fr-FR" dirty="0"/>
              <a:t>Priorisation</a:t>
            </a:r>
          </a:p>
          <a:p>
            <a:r>
              <a:rPr lang="fr-FR" dirty="0"/>
              <a:t>Intégration dans les sprints</a:t>
            </a:r>
          </a:p>
          <a:p>
            <a:r>
              <a:rPr lang="fr-FR" dirty="0"/>
              <a:t>Communication aux utilisateurs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97201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BD03AE2-A309-CE57-7309-C5AAFA4C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Roadmap &amp; priorisation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B45B3A6-D2F0-BF64-D691-15BE5F903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7386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86E2504B-1B23-7CC1-779C-F892E35F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Phases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023386-40ED-0DD1-3821-4949DC8723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Phase 1 — Fondations</a:t>
            </a:r>
          </a:p>
          <a:p>
            <a:r>
              <a:rPr lang="fr-FR" dirty="0"/>
              <a:t>Capture intelligente</a:t>
            </a:r>
          </a:p>
          <a:p>
            <a:r>
              <a:rPr lang="fr-FR" dirty="0"/>
              <a:t>Fiches recettes</a:t>
            </a:r>
          </a:p>
          <a:p>
            <a:r>
              <a:rPr lang="fr-FR" dirty="0"/>
              <a:t>Espaces familiaux</a:t>
            </a:r>
          </a:p>
          <a:p>
            <a:r>
              <a:rPr lang="fr-FR" dirty="0"/>
              <a:t>Partage</a:t>
            </a:r>
          </a:p>
          <a:p>
            <a:r>
              <a:rPr lang="fr-FR" dirty="0"/>
              <a:t>Recherche</a:t>
            </a:r>
          </a:p>
          <a:p>
            <a:r>
              <a:rPr lang="fr-FR" dirty="0"/>
              <a:t>Histoire &amp; émotion</a:t>
            </a:r>
          </a:p>
          <a:p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4A99FB9-E5CD-CA63-5DF4-578788E7CA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/>
              <a:t>Phase 2 — Différenciation</a:t>
            </a:r>
          </a:p>
          <a:p>
            <a:r>
              <a:rPr lang="fr-FR" dirty="0"/>
              <a:t>Assistant de cuisine</a:t>
            </a:r>
          </a:p>
          <a:p>
            <a:r>
              <a:rPr lang="fr-FR" dirty="0"/>
              <a:t>Livre imprimé</a:t>
            </a:r>
          </a:p>
          <a:p>
            <a:r>
              <a:rPr lang="fr-FR" dirty="0"/>
              <a:t>Fil d’actualité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Phase 3 — Expansion</a:t>
            </a:r>
          </a:p>
          <a:p>
            <a:r>
              <a:rPr lang="fr-FR" dirty="0"/>
              <a:t>Intégrations avancées</a:t>
            </a:r>
          </a:p>
          <a:p>
            <a:r>
              <a:rPr lang="fr-FR" dirty="0"/>
              <a:t>IA &amp; nutrition</a:t>
            </a:r>
          </a:p>
          <a:p>
            <a:r>
              <a:rPr lang="fr-FR" dirty="0"/>
              <a:t>Partenariats</a:t>
            </a:r>
          </a:p>
          <a:p>
            <a:r>
              <a:rPr lang="fr-FR" dirty="0"/>
              <a:t>Internationalisation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59677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49F07-49F4-F4DA-53DE-A71F1EC8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de priorisation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BD5D25-BD30-FDD6-7DBD-64A4B485C2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Méthode RICE</a:t>
            </a:r>
          </a:p>
          <a:p>
            <a:r>
              <a:rPr lang="fr-FR" dirty="0" err="1"/>
              <a:t>Reach</a:t>
            </a:r>
            <a:endParaRPr lang="fr-FR" dirty="0"/>
          </a:p>
          <a:p>
            <a:r>
              <a:rPr lang="fr-FR" dirty="0"/>
              <a:t>Impact</a:t>
            </a:r>
          </a:p>
          <a:p>
            <a:r>
              <a:rPr lang="fr-FR" dirty="0"/>
              <a:t>Confidence</a:t>
            </a:r>
          </a:p>
          <a:p>
            <a:r>
              <a:rPr lang="fr-FR" dirty="0"/>
              <a:t>Effort</a:t>
            </a:r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D7E567-A3D0-2517-A82B-F280A47006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Autres critères</a:t>
            </a:r>
          </a:p>
          <a:p>
            <a:r>
              <a:rPr lang="fr-FR" dirty="0"/>
              <a:t>Valeur émotionnelle</a:t>
            </a:r>
          </a:p>
          <a:p>
            <a:r>
              <a:rPr lang="fr-FR" dirty="0"/>
              <a:t>Cohérence avec la vision</a:t>
            </a:r>
          </a:p>
          <a:p>
            <a:r>
              <a:rPr lang="fr-FR" dirty="0"/>
              <a:t>Faisabilité technique</a:t>
            </a:r>
          </a:p>
          <a:p>
            <a:r>
              <a:rPr lang="fr-FR" dirty="0"/>
              <a:t>Demande utilisateur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33074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7C413-9786-FD5D-4CDD-47037B75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Vision long terme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F63EA06-1C07-174F-C4CA-5F8D2D013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Bon App’ devient :</a:t>
            </a:r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b="1" dirty="0"/>
              <a:t>référentiel culinaire familial</a:t>
            </a:r>
            <a:r>
              <a:rPr lang="fr-FR" dirty="0"/>
              <a:t> mondial</a:t>
            </a:r>
          </a:p>
          <a:p>
            <a:r>
              <a:rPr lang="fr-FR" dirty="0"/>
              <a:t>Un </a:t>
            </a:r>
            <a:r>
              <a:rPr lang="fr-FR" b="1" dirty="0"/>
              <a:t>outil de transmission intergénérationnelle</a:t>
            </a:r>
            <a:endParaRPr lang="fr-FR" dirty="0"/>
          </a:p>
          <a:p>
            <a:r>
              <a:rPr lang="fr-FR" dirty="0"/>
              <a:t>Une </a:t>
            </a:r>
            <a:r>
              <a:rPr lang="fr-FR" b="1" dirty="0"/>
              <a:t>plateforme culturelle</a:t>
            </a:r>
            <a:r>
              <a:rPr lang="fr-FR" dirty="0"/>
              <a:t> autour de la cuisine</a:t>
            </a:r>
          </a:p>
          <a:p>
            <a:r>
              <a:rPr lang="fr-FR" dirty="0"/>
              <a:t>Un </a:t>
            </a:r>
            <a:r>
              <a:rPr lang="fr-FR" b="1" dirty="0"/>
              <a:t>écosystème connecté</a:t>
            </a:r>
            <a:r>
              <a:rPr lang="fr-FR" dirty="0"/>
              <a:t> (appareils, IA, livres, communautés)</a:t>
            </a:r>
          </a:p>
          <a:p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B0EA15D-8455-030A-408D-DE5321D0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b="1" dirty="0"/>
              <a:t>Ambition</a:t>
            </a:r>
            <a:r>
              <a:rPr lang="fr-FR" dirty="0"/>
              <a:t> </a:t>
            </a:r>
          </a:p>
          <a:p>
            <a:r>
              <a:rPr lang="fr-FR" i="1" dirty="0"/>
              <a:t>Créer la bibliothèque culinaire familiale du XXIᵉ siècle.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27048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EE69490-1534-6049-347A-C19095C8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de communication de crise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08700D88-8AE1-A124-7596-2B341382C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0919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0F8B4CC3-1E80-33E0-4C62-C74C11A6C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Détection des incidents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F85266E-37D4-C0DB-D471-A855DBC5D6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Types d’incidents</a:t>
            </a:r>
          </a:p>
          <a:p>
            <a:r>
              <a:rPr lang="fr-FR" dirty="0"/>
              <a:t>Panne serveur</a:t>
            </a:r>
          </a:p>
          <a:p>
            <a:r>
              <a:rPr lang="fr-FR" dirty="0"/>
              <a:t>Bug critique</a:t>
            </a:r>
          </a:p>
          <a:p>
            <a:r>
              <a:rPr lang="fr-FR" dirty="0"/>
              <a:t>Problème de sécurité</a:t>
            </a:r>
          </a:p>
          <a:p>
            <a:r>
              <a:rPr lang="fr-FR" dirty="0"/>
              <a:t>Perte de données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A05342-AAF5-2463-1495-D042C3464D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Objectif</a:t>
            </a:r>
          </a:p>
          <a:p>
            <a:r>
              <a:rPr lang="fr-FR" dirty="0"/>
              <a:t>Identifier rapidement, qualifier, prioriser.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17552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E6027-E8A8-483C-E433-87247438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Communication interne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832899-39EF-7EAF-4231-3B308531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Cellule de crise</a:t>
            </a:r>
          </a:p>
          <a:p>
            <a:r>
              <a:rPr lang="fr-FR" dirty="0"/>
              <a:t>Rôles définis</a:t>
            </a:r>
          </a:p>
          <a:p>
            <a:r>
              <a:rPr lang="fr-FR" dirty="0"/>
              <a:t>Canal dédié</a:t>
            </a:r>
          </a:p>
          <a:p>
            <a:r>
              <a:rPr lang="fr-FR" dirty="0"/>
              <a:t>Réunions rapides (stand-up toutes les 30 minutes)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274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669565-051A-24A8-22E2-77397E1E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Communication externe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DE3A0D-CC09-B03A-56AB-9D197C0AD2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Canaux</a:t>
            </a:r>
          </a:p>
          <a:p>
            <a:r>
              <a:rPr lang="fr-FR" dirty="0"/>
              <a:t>Notifications in-app</a:t>
            </a:r>
          </a:p>
          <a:p>
            <a:r>
              <a:rPr lang="fr-FR" dirty="0"/>
              <a:t>Email</a:t>
            </a:r>
          </a:p>
          <a:p>
            <a:r>
              <a:rPr lang="fr-FR" dirty="0"/>
              <a:t>Réseaux sociaux</a:t>
            </a:r>
          </a:p>
          <a:p>
            <a:r>
              <a:rPr lang="fr-FR" dirty="0"/>
              <a:t>Page statut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3B46DF-B81A-6C4E-FC4D-057AE14757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Principes</a:t>
            </a:r>
          </a:p>
          <a:p>
            <a:r>
              <a:rPr lang="fr-FR" dirty="0"/>
              <a:t>Transparence</a:t>
            </a:r>
          </a:p>
          <a:p>
            <a:r>
              <a:rPr lang="fr-FR" dirty="0"/>
              <a:t>Fréquence</a:t>
            </a:r>
          </a:p>
          <a:p>
            <a:r>
              <a:rPr lang="fr-FR" dirty="0"/>
              <a:t>Empathie</a:t>
            </a:r>
          </a:p>
          <a:p>
            <a:r>
              <a:rPr lang="fr-FR" dirty="0"/>
              <a:t>Solutions proposées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15781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EF0990-BEB3-84A4-7A34-317CB48C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Reprise &amp; post-mortem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C68687-6310-5873-881E-A5E26EEF5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dirty="0"/>
              <a:t>Actions</a:t>
            </a:r>
          </a:p>
          <a:p>
            <a:r>
              <a:rPr lang="fr-FR" dirty="0"/>
              <a:t>Rétablissement progressif</a:t>
            </a:r>
          </a:p>
          <a:p>
            <a:r>
              <a:rPr lang="fr-FR" dirty="0"/>
              <a:t>Vérification des données</a:t>
            </a:r>
          </a:p>
          <a:p>
            <a:r>
              <a:rPr lang="fr-FR" dirty="0"/>
              <a:t>Rapport post-incident</a:t>
            </a:r>
          </a:p>
          <a:p>
            <a:r>
              <a:rPr lang="fr-FR" dirty="0"/>
              <a:t>Améliorations techniques et organisationnelles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9650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323</TotalTime>
  <Words>3410</Words>
  <Application>Microsoft Office PowerPoint</Application>
  <PresentationFormat>Grand écran</PresentationFormat>
  <Paragraphs>762</Paragraphs>
  <Slides>92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92</vt:i4>
      </vt:variant>
    </vt:vector>
  </HeadingPairs>
  <TitlesOfParts>
    <vt:vector size="95" baseType="lpstr">
      <vt:lpstr>Century Gothic</vt:lpstr>
      <vt:lpstr>Garamond</vt:lpstr>
      <vt:lpstr>Savon</vt:lpstr>
      <vt:lpstr>Bon App’</vt:lpstr>
      <vt:lpstr>Introduction</vt:lpstr>
      <vt:lpstr>Vision</vt:lpstr>
      <vt:lpstr>Contexte &amp; origine du projet</vt:lpstr>
      <vt:lpstr>Contexte &amp; origine du projet</vt:lpstr>
      <vt:lpstr>Enjeux culturels et émotionnels</vt:lpstr>
      <vt:lpstr>Problématique &amp; Opportunité</vt:lpstr>
      <vt:lpstr>Problème utilisateur</vt:lpstr>
      <vt:lpstr>Conséquences de l’absence de solution</vt:lpstr>
      <vt:lpstr>Opportunité de marché</vt:lpstr>
      <vt:lpstr>Proposition de valeur</vt:lpstr>
      <vt:lpstr>Objectifs du produit</vt:lpstr>
      <vt:lpstr>Objectifs fonctionnels</vt:lpstr>
      <vt:lpstr>Objectifs émotionnels &amp; culturels</vt:lpstr>
      <vt:lpstr>Objectifs business</vt:lpstr>
      <vt:lpstr>KPIs associés</vt:lpstr>
      <vt:lpstr>Personas &amp; Cas d’usage</vt:lpstr>
      <vt:lpstr>Marie, 72 ans, la gardienne des traditions</vt:lpstr>
      <vt:lpstr>Paul, 35 ans, jeune parent pressé</vt:lpstr>
      <vt:lpstr>Sophie, 28 ans, cuisinière amateur passionnée</vt:lpstr>
      <vt:lpstr>Parcours utilisateur global</vt:lpstr>
      <vt:lpstr>Marie transmet ses recettes traditionnelles</vt:lpstr>
      <vt:lpstr>Paul cherche des recettes rapides</vt:lpstr>
      <vt:lpstr>Sophie organise ses recettes</vt:lpstr>
      <vt:lpstr>Fonctionnalités principales (Phase 1)</vt:lpstr>
      <vt:lpstr>Capture intelligente</vt:lpstr>
      <vt:lpstr>Capture intelligente</vt:lpstr>
      <vt:lpstr>Capture intelligente</vt:lpstr>
      <vt:lpstr>Fiches de recettes</vt:lpstr>
      <vt:lpstr>Espaces familiaux</vt:lpstr>
      <vt:lpstr>Partage &amp; confidentialité</vt:lpstr>
      <vt:lpstr>Organisation &amp; recherche</vt:lpstr>
      <vt:lpstr>Histoire &amp; émotion</vt:lpstr>
      <vt:lpstr>Fonctionnalités différenciantes (Phase 2)</vt:lpstr>
      <vt:lpstr>Assistant de cuisine interactif</vt:lpstr>
      <vt:lpstr>Assistant de cuisine interactif</vt:lpstr>
      <vt:lpstr>Livre de recettes imprimé automatique</vt:lpstr>
      <vt:lpstr>Fil d’actualité familial</vt:lpstr>
      <vt:lpstr>Fonctionnalités futures (Phase 3)</vt:lpstr>
      <vt:lpstr>Intégrations avec appareils connectés</vt:lpstr>
      <vt:lpstr>IA &amp; analyse nutritionnelle</vt:lpstr>
      <vt:lpstr>Partenariats culturels</vt:lpstr>
      <vt:lpstr>Internationalisation avancée</vt:lpstr>
      <vt:lpstr>UX / UI</vt:lpstr>
      <vt:lpstr>Principes UX</vt:lpstr>
      <vt:lpstr>Architecture de navigation</vt:lpstr>
      <vt:lpstr>Interactions clés</vt:lpstr>
      <vt:lpstr>Wireframes &amp; maquettes (description)</vt:lpstr>
      <vt:lpstr>Accessibilité</vt:lpstr>
      <vt:lpstr>Spécifications techniques</vt:lpstr>
      <vt:lpstr>Architecture technique</vt:lpstr>
      <vt:lpstr>Architecture technique</vt:lpstr>
      <vt:lpstr>Architecture fonctionnelle — Vue d’ensemble</vt:lpstr>
      <vt:lpstr>Contraintes non fonctionnelles</vt:lpstr>
      <vt:lpstr>Intégrations externes</vt:lpstr>
      <vt:lpstr>Gestion des données personnelles (RGPD)</vt:lpstr>
      <vt:lpstr>Gestion des erreurs &amp; messages utilisateurs</vt:lpstr>
      <vt:lpstr>Types d’erreurs</vt:lpstr>
      <vt:lpstr>Feedback utilisateur</vt:lpstr>
      <vt:lpstr>Journalisation &amp; monitoring</vt:lpstr>
      <vt:lpstr>Reprise automatique</vt:lpstr>
      <vt:lpstr>Monétisation</vt:lpstr>
      <vt:lpstr>Freemium</vt:lpstr>
      <vt:lpstr>Abonnement</vt:lpstr>
      <vt:lpstr>Livres imprimés</vt:lpstr>
      <vt:lpstr>Plan de tests</vt:lpstr>
      <vt:lpstr>Tests fonctionnels</vt:lpstr>
      <vt:lpstr>Tests utilisateurs</vt:lpstr>
      <vt:lpstr>Critères d’acceptation</vt:lpstr>
      <vt:lpstr>Formation &amp; documentation</vt:lpstr>
      <vt:lpstr>Guides intégrés</vt:lpstr>
      <vt:lpstr>FAQ dynamique</vt:lpstr>
      <vt:lpstr>Vidéos tutorielles</vt:lpstr>
      <vt:lpstr>Documentation en ligne</vt:lpstr>
      <vt:lpstr>Formation des ambassadeurs</vt:lpstr>
      <vt:lpstr>Support &amp; maintenance</vt:lpstr>
      <vt:lpstr>Système de tickets</vt:lpstr>
      <vt:lpstr>Mises à jour régulières</vt:lpstr>
      <vt:lpstr>Support utilisateur intégré</vt:lpstr>
      <vt:lpstr>Processus de feedback utilisateur</vt:lpstr>
      <vt:lpstr>Collecte continue</vt:lpstr>
      <vt:lpstr>Analyse qualitative &amp; quantitative</vt:lpstr>
      <vt:lpstr>Intégration dans la roadmap</vt:lpstr>
      <vt:lpstr>Roadmap &amp; priorisation</vt:lpstr>
      <vt:lpstr>Phases</vt:lpstr>
      <vt:lpstr>Critères de priorisation</vt:lpstr>
      <vt:lpstr>Vision long terme</vt:lpstr>
      <vt:lpstr>Plan de communication de crise</vt:lpstr>
      <vt:lpstr>Détection des incidents</vt:lpstr>
      <vt:lpstr>Communication interne</vt:lpstr>
      <vt:lpstr>Communication externe</vt:lpstr>
      <vt:lpstr>Reprise &amp; post-mortem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PONCELET</dc:creator>
  <cp:lastModifiedBy>Vincent PONCELET</cp:lastModifiedBy>
  <cp:revision>32</cp:revision>
  <dcterms:created xsi:type="dcterms:W3CDTF">2026-01-20T20:08:06Z</dcterms:created>
  <dcterms:modified xsi:type="dcterms:W3CDTF">2026-10-19T15:21:41Z</dcterms:modified>
</cp:coreProperties>
</file>